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4" r:id="rId1"/>
  </p:sldMasterIdLst>
  <p:notesMasterIdLst>
    <p:notesMasterId r:id="rId15"/>
  </p:notesMasterIdLst>
  <p:handoutMasterIdLst>
    <p:handoutMasterId r:id="rId16"/>
  </p:handoutMasterIdLst>
  <p:sldIdLst>
    <p:sldId id="256" r:id="rId2"/>
    <p:sldId id="288" r:id="rId3"/>
    <p:sldId id="286" r:id="rId4"/>
    <p:sldId id="292" r:id="rId5"/>
    <p:sldId id="289" r:id="rId6"/>
    <p:sldId id="278" r:id="rId7"/>
    <p:sldId id="281" r:id="rId8"/>
    <p:sldId id="291" r:id="rId9"/>
    <p:sldId id="290" r:id="rId10"/>
    <p:sldId id="293" r:id="rId11"/>
    <p:sldId id="275" r:id="rId12"/>
    <p:sldId id="265" r:id="rId13"/>
    <p:sldId id="259" r:id="rId14"/>
  </p:sldIdLst>
  <p:sldSz cx="12192000" cy="6858000"/>
  <p:notesSz cx="7102475" cy="102330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7" autoAdjust="0"/>
    <p:restoredTop sz="94660" autoAdjust="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60" d="100"/>
          <a:sy n="60" d="100"/>
        </p:scale>
        <p:origin x="-1494" y="0"/>
      </p:cViewPr>
      <p:guideLst>
        <p:guide orient="horz" pos="3222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ky Giles" userId="7ea0b7206c2c09e4" providerId="LiveId" clId="{0A16D3F0-4C59-40F4-BE49-9AB1E9A96B9A}"/>
    <pc:docChg chg="custSel modSld">
      <pc:chgData name="Becky Giles" userId="7ea0b7206c2c09e4" providerId="LiveId" clId="{0A16D3F0-4C59-40F4-BE49-9AB1E9A96B9A}" dt="2019-11-17T20:55:23.365" v="0" actId="478"/>
      <pc:docMkLst>
        <pc:docMk/>
      </pc:docMkLst>
      <pc:sldChg chg="delSp">
        <pc:chgData name="Becky Giles" userId="7ea0b7206c2c09e4" providerId="LiveId" clId="{0A16D3F0-4C59-40F4-BE49-9AB1E9A96B9A}" dt="2019-11-17T20:55:23.365" v="0" actId="478"/>
        <pc:sldMkLst>
          <pc:docMk/>
          <pc:sldMk cId="2537098057" sldId="278"/>
        </pc:sldMkLst>
        <pc:picChg chg="del">
          <ac:chgData name="Becky Giles" userId="7ea0b7206c2c09e4" providerId="LiveId" clId="{0A16D3F0-4C59-40F4-BE49-9AB1E9A96B9A}" dt="2019-11-17T20:55:23.365" v="0" actId="478"/>
          <ac:picMkLst>
            <pc:docMk/>
            <pc:sldMk cId="2537098057" sldId="278"/>
            <ac:picMk id="4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513" cy="512225"/>
          </a:xfrm>
          <a:prstGeom prst="rect">
            <a:avLst/>
          </a:prstGeom>
        </p:spPr>
        <p:txBody>
          <a:bodyPr vert="horz" lIns="94778" tIns="47389" rIns="94778" bIns="47389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304" y="0"/>
            <a:ext cx="3078513" cy="512225"/>
          </a:xfrm>
          <a:prstGeom prst="rect">
            <a:avLst/>
          </a:prstGeom>
        </p:spPr>
        <p:txBody>
          <a:bodyPr vert="horz" lIns="94778" tIns="47389" rIns="94778" bIns="47389" rtlCol="0"/>
          <a:lstStyle>
            <a:lvl1pPr algn="r">
              <a:defRPr sz="1200"/>
            </a:lvl1pPr>
          </a:lstStyle>
          <a:p>
            <a:fld id="{32635A9A-CF6A-4524-A9B5-A58C0AC6F200}" type="datetimeFigureOut">
              <a:rPr lang="en-GB" smtClean="0"/>
              <a:t>19/11/2019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9165"/>
            <a:ext cx="3078513" cy="512223"/>
          </a:xfrm>
          <a:prstGeom prst="rect">
            <a:avLst/>
          </a:prstGeom>
        </p:spPr>
        <p:txBody>
          <a:bodyPr vert="horz" lIns="94778" tIns="47389" rIns="94778" bIns="4738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304" y="9719165"/>
            <a:ext cx="3078513" cy="512223"/>
          </a:xfrm>
          <a:prstGeom prst="rect">
            <a:avLst/>
          </a:prstGeom>
        </p:spPr>
        <p:txBody>
          <a:bodyPr vert="horz" lIns="94778" tIns="47389" rIns="94778" bIns="47389" rtlCol="0" anchor="b"/>
          <a:lstStyle>
            <a:lvl1pPr algn="r">
              <a:defRPr sz="1200"/>
            </a:lvl1pPr>
          </a:lstStyle>
          <a:p>
            <a:fld id="{55EA031B-9A99-434B-99DB-2D94FC4555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7544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513" cy="512225"/>
          </a:xfrm>
          <a:prstGeom prst="rect">
            <a:avLst/>
          </a:prstGeom>
        </p:spPr>
        <p:txBody>
          <a:bodyPr vert="horz" lIns="94778" tIns="47389" rIns="94778" bIns="4738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304" y="0"/>
            <a:ext cx="3078513" cy="512225"/>
          </a:xfrm>
          <a:prstGeom prst="rect">
            <a:avLst/>
          </a:prstGeom>
        </p:spPr>
        <p:txBody>
          <a:bodyPr vert="horz" lIns="94778" tIns="47389" rIns="94778" bIns="47389" rtlCol="0"/>
          <a:lstStyle>
            <a:lvl1pPr algn="r">
              <a:defRPr sz="1200"/>
            </a:lvl1pPr>
          </a:lstStyle>
          <a:p>
            <a:fld id="{995CD19A-BD5D-424B-8A67-0926C37D5920}" type="datetimeFigureOut">
              <a:rPr lang="en-GB" smtClean="0"/>
              <a:t>19/11/2019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78" tIns="47389" rIns="94778" bIns="4738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17" y="4860401"/>
            <a:ext cx="5682643" cy="4605106"/>
          </a:xfrm>
          <a:prstGeom prst="rect">
            <a:avLst/>
          </a:prstGeom>
        </p:spPr>
        <p:txBody>
          <a:bodyPr vert="horz" lIns="94778" tIns="47389" rIns="94778" bIns="473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165"/>
            <a:ext cx="3078513" cy="512223"/>
          </a:xfrm>
          <a:prstGeom prst="rect">
            <a:avLst/>
          </a:prstGeom>
        </p:spPr>
        <p:txBody>
          <a:bodyPr vert="horz" lIns="94778" tIns="47389" rIns="94778" bIns="4738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304" y="9719165"/>
            <a:ext cx="3078513" cy="512223"/>
          </a:xfrm>
          <a:prstGeom prst="rect">
            <a:avLst/>
          </a:prstGeom>
        </p:spPr>
        <p:txBody>
          <a:bodyPr vert="horz" lIns="94778" tIns="47389" rIns="94778" bIns="47389" rtlCol="0" anchor="b"/>
          <a:lstStyle>
            <a:lvl1pPr algn="r">
              <a:defRPr sz="1200"/>
            </a:lvl1pPr>
          </a:lstStyle>
          <a:p>
            <a:fld id="{DDFF766C-6527-400D-8FA4-802BEA1636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992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1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772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583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35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83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999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003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13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83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392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101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322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0973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520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793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26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33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507067" y="405246"/>
            <a:ext cx="7766936" cy="2222044"/>
          </a:xfrm>
        </p:spPr>
        <p:txBody>
          <a:bodyPr/>
          <a:lstStyle/>
          <a:p>
            <a:pPr algn="ctr"/>
            <a:r>
              <a:rPr lang="en-GB" dirty="0"/>
              <a:t>An Insight into Family Life with PDA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07943" y="3296478"/>
            <a:ext cx="4765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r>
              <a:rPr lang="en-GB" dirty="0"/>
              <a:t>Written by Becky Giles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3206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Family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1120462" y="2408349"/>
            <a:ext cx="6065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Emily 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Sophie 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Me 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Networks </a:t>
            </a:r>
          </a:p>
        </p:txBody>
      </p:sp>
    </p:spTree>
    <p:extLst>
      <p:ext uri="{BB962C8B-B14F-4D97-AF65-F5344CB8AC3E}">
        <p14:creationId xmlns:p14="http://schemas.microsoft.com/office/powerpoint/2010/main" val="837306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Emily’s SEN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Early Years –Multi Disciplinary Assessment</a:t>
            </a:r>
          </a:p>
          <a:p>
            <a:r>
              <a:rPr lang="en-GB" dirty="0"/>
              <a:t>Speech and Language difficulties and Dyspraxia</a:t>
            </a:r>
          </a:p>
          <a:p>
            <a:r>
              <a:rPr lang="en-GB" dirty="0"/>
              <a:t>Primary School –Learning difficulties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1158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5131038" cy="1669962"/>
          </a:xfrm>
        </p:spPr>
        <p:txBody>
          <a:bodyPr/>
          <a:lstStyle/>
          <a:p>
            <a:r>
              <a:rPr lang="en-GB" dirty="0"/>
              <a:t>Why was diagnosis Important?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3510" y="2140133"/>
            <a:ext cx="406972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sz="2800" dirty="0"/>
              <a:t>Autism </a:t>
            </a:r>
          </a:p>
          <a:p>
            <a:pPr marL="571500" indent="-571500" algn="just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sz="2800" dirty="0"/>
              <a:t>PDA </a:t>
            </a:r>
          </a:p>
          <a:p>
            <a:pPr marL="571500" indent="-571500" algn="just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sz="2800" dirty="0"/>
              <a:t>Team Approach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998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Mummy ‘Why can’t I say yes?’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does PDA effect Emily? </a:t>
            </a:r>
          </a:p>
          <a:p>
            <a:r>
              <a:rPr lang="en-GB" dirty="0"/>
              <a:t>Avoidance</a:t>
            </a:r>
          </a:p>
          <a:p>
            <a:r>
              <a:rPr lang="en-GB" dirty="0"/>
              <a:t>Anxiety </a:t>
            </a:r>
          </a:p>
          <a:p>
            <a:r>
              <a:rPr lang="en-GB" dirty="0"/>
              <a:t>Control 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409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Every Day Life Demands 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648496" y="1738648"/>
            <a:ext cx="38121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6">
                  <a:lumMod val="60000"/>
                  <a:lumOff val="40000"/>
                </a:schemeClr>
              </a:buClr>
              <a:buFont typeface="Wingdings 3" panose="05040102010807070707" pitchFamily="18" charset="2"/>
              <a:buChar char=""/>
            </a:pPr>
            <a:r>
              <a:rPr lang="en-GB" dirty="0"/>
              <a:t>Getting out of Bed </a:t>
            </a:r>
          </a:p>
          <a:p>
            <a:pPr marL="285750" indent="-285750">
              <a:buClr>
                <a:schemeClr val="accent6">
                  <a:lumMod val="60000"/>
                  <a:lumOff val="40000"/>
                </a:schemeClr>
              </a:buClr>
              <a:buFont typeface="Wingdings 3" panose="05040102010807070707" pitchFamily="18" charset="2"/>
              <a:buChar char=""/>
            </a:pPr>
            <a:r>
              <a:rPr lang="en-GB" dirty="0"/>
              <a:t>Getting washed </a:t>
            </a:r>
          </a:p>
          <a:p>
            <a:pPr marL="285750" indent="-285750">
              <a:buClr>
                <a:schemeClr val="accent6">
                  <a:lumMod val="60000"/>
                  <a:lumOff val="40000"/>
                </a:schemeClr>
              </a:buClr>
              <a:buFont typeface="Wingdings 3" panose="05040102010807070707" pitchFamily="18" charset="2"/>
              <a:buChar char="u"/>
            </a:pPr>
            <a:r>
              <a:rPr lang="en-GB" dirty="0"/>
              <a:t>Dressed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Eating 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Toileting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Leaving the house 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Leaving the car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School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Coming Home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Cleaning Teeth 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Bedtime</a:t>
            </a:r>
          </a:p>
        </p:txBody>
      </p:sp>
    </p:spTree>
    <p:extLst>
      <p:ext uri="{BB962C8B-B14F-4D97-AF65-F5344CB8AC3E}">
        <p14:creationId xmlns:p14="http://schemas.microsoft.com/office/powerpoint/2010/main" val="253709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behaviours do we see at home/school? 	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Refusal to physically move –sitting on the floor, not leaving the car, on a chair, in school, at home, at the shops …..</a:t>
            </a:r>
          </a:p>
          <a:p>
            <a:r>
              <a:rPr lang="en-GB" dirty="0"/>
              <a:t>Lots of deal making and negotiating about little things</a:t>
            </a:r>
          </a:p>
          <a:p>
            <a:r>
              <a:rPr lang="en-GB" dirty="0"/>
              <a:t>Refusal to take part in a task. For example putting shoes on, getting dressed even if she’s excited about going somewhere, refusal to eat, drink and toilet, bath or wash. </a:t>
            </a:r>
          </a:p>
          <a:p>
            <a:r>
              <a:rPr lang="en-GB" dirty="0"/>
              <a:t>Dominating behaviour towards siblings, parents and others. </a:t>
            </a:r>
          </a:p>
          <a:p>
            <a:r>
              <a:rPr lang="en-GB" dirty="0"/>
              <a:t>Ridiculous claims and lies. For example my legs won’t work, I’m too tired, my arm is broken, I’m glued to the bed, I can’t move…..</a:t>
            </a:r>
          </a:p>
          <a:p>
            <a:r>
              <a:rPr lang="en-GB" dirty="0"/>
              <a:t>Very bossy and concerned about telling other people about the rules. However not as keen to follow the rules herself. A lack of insight and understanding of boundaries. Who is in charge? </a:t>
            </a:r>
          </a:p>
        </p:txBody>
      </p:sp>
    </p:spTree>
    <p:extLst>
      <p:ext uri="{BB962C8B-B14F-4D97-AF65-F5344CB8AC3E}">
        <p14:creationId xmlns:p14="http://schemas.microsoft.com/office/powerpoint/2010/main" val="7568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Impacts of PDA and High Anxiety on Family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Restrictions</a:t>
            </a:r>
          </a:p>
          <a:p>
            <a:r>
              <a:rPr lang="en-GB" dirty="0"/>
              <a:t>Morning and evening routines </a:t>
            </a:r>
          </a:p>
          <a:p>
            <a:r>
              <a:rPr lang="en-GB" dirty="0"/>
              <a:t>Your own Avoidance</a:t>
            </a:r>
          </a:p>
          <a:p>
            <a:r>
              <a:rPr lang="en-GB" dirty="0"/>
              <a:t>Your own wellbeing </a:t>
            </a:r>
          </a:p>
          <a:p>
            <a:r>
              <a:rPr lang="en-GB" dirty="0"/>
              <a:t>Aggression and challenging behaviour</a:t>
            </a:r>
          </a:p>
          <a:p>
            <a:r>
              <a:rPr lang="en-GB" dirty="0"/>
              <a:t>Controlling behaviour and avoidance </a:t>
            </a:r>
          </a:p>
          <a:p>
            <a:r>
              <a:rPr lang="en-GB" dirty="0"/>
              <a:t>Finding a way forwards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1853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7334" y="399245"/>
            <a:ext cx="73462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accent1"/>
                </a:solidFill>
              </a:rPr>
              <a:t>Impact on Siblings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9615A-0D33-4BA2-84D3-141A67638869}"/>
              </a:ext>
            </a:extLst>
          </p:cNvPr>
          <p:cNvSpPr txBox="1"/>
          <p:nvPr/>
        </p:nvSpPr>
        <p:spPr>
          <a:xfrm>
            <a:off x="677334" y="1802296"/>
            <a:ext cx="2794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Frustration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Managing their siblings challenging behaviour </a:t>
            </a:r>
          </a:p>
          <a:p>
            <a:pPr marL="285750" indent="-285750">
              <a:buClr>
                <a:srgbClr val="00B0F0"/>
              </a:buClr>
              <a:buFont typeface="Wingdings 3" panose="05040102010807070707" pitchFamily="18" charset="2"/>
              <a:buChar char="u"/>
            </a:pPr>
            <a:r>
              <a:rPr lang="en-GB" dirty="0"/>
              <a:t>Lower resilience 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GB" dirty="0"/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732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There is hope………..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888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PDA Parenting</a:t>
            </a:r>
            <a:br>
              <a:rPr lang="en-GB" dirty="0"/>
            </a:br>
            <a:r>
              <a:rPr lang="en-GB" dirty="0"/>
              <a:t> 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61209"/>
            <a:ext cx="8596668" cy="5132357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Reduce the demands –cleaning teeth once a day.  </a:t>
            </a:r>
          </a:p>
          <a:p>
            <a:r>
              <a:rPr lang="en-GB" dirty="0"/>
              <a:t>Sometimes use physical prompts to put shoes on for example just tap their leg instead of directly asking them to do it. </a:t>
            </a:r>
          </a:p>
          <a:p>
            <a:r>
              <a:rPr lang="en-GB" dirty="0"/>
              <a:t>Ask them directly as little as possible</a:t>
            </a:r>
          </a:p>
          <a:p>
            <a:r>
              <a:rPr lang="en-GB" dirty="0"/>
              <a:t>Give them time to process a demand as it takes time to agree. </a:t>
            </a:r>
          </a:p>
          <a:p>
            <a:r>
              <a:rPr lang="en-GB" dirty="0"/>
              <a:t>Make them believe that they are helping you or there is some other reason they should be completing the task</a:t>
            </a:r>
          </a:p>
          <a:p>
            <a:r>
              <a:rPr lang="en-GB" dirty="0"/>
              <a:t>Pretend you don’t know how to do the task and then let them take lead. –Independence boxes or setting toys out  </a:t>
            </a:r>
          </a:p>
          <a:p>
            <a:r>
              <a:rPr lang="en-GB" dirty="0"/>
              <a:t>Be mindful of your tone of voice and body language especially in difficult situations</a:t>
            </a:r>
          </a:p>
          <a:p>
            <a:r>
              <a:rPr lang="en-GB" dirty="0"/>
              <a:t>Give them control where possible</a:t>
            </a:r>
          </a:p>
          <a:p>
            <a:r>
              <a:rPr lang="en-GB" dirty="0"/>
              <a:t>Treat their challenging moments as Panic Attacks as they are highly anxious at these times. </a:t>
            </a:r>
          </a:p>
          <a:p>
            <a:r>
              <a:rPr lang="en-GB" dirty="0"/>
              <a:t>Pick your battles as with all ASC children. </a:t>
            </a:r>
          </a:p>
          <a:p>
            <a:r>
              <a:rPr lang="en-GB" dirty="0"/>
              <a:t>Have consequences for the really challenging behaviour and stick to them. </a:t>
            </a:r>
          </a:p>
          <a:p>
            <a:r>
              <a:rPr lang="en-GB" dirty="0"/>
              <a:t>Take video’s or photos of positive experiences to reflect on. </a:t>
            </a:r>
          </a:p>
          <a:p>
            <a:r>
              <a:rPr lang="en-GB" dirty="0"/>
              <a:t>Try to not worry what others think of behaviour when your out and about </a:t>
            </a:r>
          </a:p>
          <a:p>
            <a:r>
              <a:rPr lang="en-GB" dirty="0"/>
              <a:t>Just keep going and try different things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193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Strategies at Home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23493"/>
            <a:ext cx="8596668" cy="48178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sz="2200" b="1" dirty="0"/>
              <a:t>Managing Anxiety (</a:t>
            </a:r>
            <a:r>
              <a:rPr lang="en-GB" sz="2200" b="1" dirty="0" err="1"/>
              <a:t>Art,Exercise,music</a:t>
            </a:r>
            <a:r>
              <a:rPr lang="en-GB" sz="2200" b="1" dirty="0"/>
              <a:t> and enough downtime)</a:t>
            </a:r>
          </a:p>
          <a:p>
            <a:r>
              <a:rPr lang="en-GB" sz="2200" b="1" dirty="0"/>
              <a:t>Allowing time for particular obsessions</a:t>
            </a:r>
          </a:p>
          <a:p>
            <a:r>
              <a:rPr lang="en-GB" sz="2200" b="1" dirty="0"/>
              <a:t>Humour and laughing-Not taking things to personally</a:t>
            </a:r>
          </a:p>
          <a:p>
            <a:r>
              <a:rPr lang="en-GB" sz="2200" b="1" dirty="0"/>
              <a:t>Non reactive behaviour </a:t>
            </a:r>
          </a:p>
          <a:p>
            <a:r>
              <a:rPr lang="en-GB" sz="2200" b="1" dirty="0"/>
              <a:t>Patience and giving the Emily time and space to process a demand</a:t>
            </a:r>
          </a:p>
          <a:p>
            <a:r>
              <a:rPr lang="en-GB" sz="2200" b="1" dirty="0"/>
              <a:t>Reducing demands and allowing Emily some control</a:t>
            </a:r>
          </a:p>
          <a:p>
            <a:r>
              <a:rPr lang="en-GB" sz="2200" b="1" dirty="0"/>
              <a:t>Realising the impact of certain demands </a:t>
            </a:r>
          </a:p>
          <a:p>
            <a:r>
              <a:rPr lang="en-GB" sz="2200" b="1" dirty="0"/>
              <a:t>Realising the frustrations of Emily</a:t>
            </a:r>
          </a:p>
          <a:p>
            <a:r>
              <a:rPr lang="en-GB" sz="2200" b="1" dirty="0"/>
              <a:t>Negotiating </a:t>
            </a:r>
          </a:p>
          <a:p>
            <a:r>
              <a:rPr lang="en-GB" sz="2200" b="1" dirty="0"/>
              <a:t>Independence Box</a:t>
            </a:r>
          </a:p>
          <a:p>
            <a:r>
              <a:rPr lang="en-GB" sz="2200" b="1" dirty="0"/>
              <a:t>Anxiety Toolkit</a:t>
            </a:r>
          </a:p>
          <a:p>
            <a:r>
              <a:rPr lang="en-GB" sz="2200" b="1" dirty="0"/>
              <a:t>Comic strips </a:t>
            </a:r>
          </a:p>
          <a:p>
            <a:r>
              <a:rPr lang="en-GB" sz="2200" b="1" dirty="0"/>
              <a:t>Choice cards</a:t>
            </a:r>
          </a:p>
          <a:p>
            <a:r>
              <a:rPr lang="en-GB" sz="2200" b="1" dirty="0"/>
              <a:t>Puppets</a:t>
            </a:r>
          </a:p>
          <a:p>
            <a:r>
              <a:rPr lang="en-GB" sz="2200" b="1" dirty="0"/>
              <a:t>Social Stories</a:t>
            </a:r>
          </a:p>
          <a:p>
            <a:r>
              <a:rPr lang="en-GB" sz="2200" b="1" dirty="0"/>
              <a:t>Books explaining anxiety-</a:t>
            </a:r>
            <a:r>
              <a:rPr lang="en-GB" sz="2200" b="1" dirty="0" err="1"/>
              <a:t>Panicasaurus</a:t>
            </a:r>
            <a:r>
              <a:rPr lang="en-GB" sz="2200" b="1" dirty="0"/>
              <a:t> </a:t>
            </a:r>
          </a:p>
          <a:p>
            <a:endParaRPr lang="en-GB" sz="2200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3783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		How a school could help?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Kindness and Empathy </a:t>
            </a:r>
          </a:p>
          <a:p>
            <a:r>
              <a:rPr lang="en-GB" dirty="0"/>
              <a:t>Realising behaviour is anxiety driven </a:t>
            </a:r>
          </a:p>
          <a:p>
            <a:r>
              <a:rPr lang="en-GB" dirty="0"/>
              <a:t>Having good communication with parents</a:t>
            </a:r>
          </a:p>
          <a:p>
            <a:r>
              <a:rPr lang="en-GB" dirty="0"/>
              <a:t>Having good communication systems within your school </a:t>
            </a:r>
          </a:p>
          <a:p>
            <a:r>
              <a:rPr lang="en-GB" dirty="0"/>
              <a:t>Being willing to try new strategies that may seem unusual at times </a:t>
            </a:r>
          </a:p>
          <a:p>
            <a:r>
              <a:rPr lang="en-GB" dirty="0"/>
              <a:t>Being Flexible </a:t>
            </a:r>
          </a:p>
          <a:p>
            <a:r>
              <a:rPr lang="en-GB" dirty="0"/>
              <a:t>Reducing demands where necessary </a:t>
            </a:r>
          </a:p>
          <a:p>
            <a:r>
              <a:rPr lang="en-GB" dirty="0"/>
              <a:t>School life and home life (Holistic view of the child) </a:t>
            </a:r>
          </a:p>
          <a:p>
            <a:r>
              <a:rPr lang="en-GB" dirty="0"/>
              <a:t>Reasonable Adjustments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4862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8820</TotalTime>
  <Words>603</Words>
  <Application>Microsoft Office PowerPoint</Application>
  <PresentationFormat>Widescreen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Wingdings 3</vt:lpstr>
      <vt:lpstr>Facet</vt:lpstr>
      <vt:lpstr>An Insight into Family Life with PDA </vt:lpstr>
      <vt:lpstr>Our Family </vt:lpstr>
      <vt:lpstr>Emily’s SEN  </vt:lpstr>
      <vt:lpstr>Why was diagnosis Important?</vt:lpstr>
      <vt:lpstr>Mummy ‘Why can’t I say yes?’</vt:lpstr>
      <vt:lpstr>Every Day Life Demands  </vt:lpstr>
      <vt:lpstr>What behaviours do we see at home/school?   </vt:lpstr>
      <vt:lpstr>Impacts of PDA and High Anxiety on Family Life</vt:lpstr>
      <vt:lpstr>PowerPoint Presentation</vt:lpstr>
      <vt:lpstr>There is hope………..</vt:lpstr>
      <vt:lpstr>My PDA Parenting    </vt:lpstr>
      <vt:lpstr>Strategies at Home </vt:lpstr>
      <vt:lpstr>  How a school could help?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SEND REFORMS WORKSHOP WEEK 1</dc:title>
  <dc:creator>PODS Parent Carer Forum</dc:creator>
  <cp:lastModifiedBy>Janet Matthews</cp:lastModifiedBy>
  <cp:revision>116</cp:revision>
  <cp:lastPrinted>2019-11-18T08:56:43Z</cp:lastPrinted>
  <dcterms:created xsi:type="dcterms:W3CDTF">2015-01-04T19:42:41Z</dcterms:created>
  <dcterms:modified xsi:type="dcterms:W3CDTF">2019-11-19T10:14:29Z</dcterms:modified>
</cp:coreProperties>
</file>