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4" r:id="rId15"/>
    <p:sldId id="275" r:id="rId16"/>
    <p:sldId id="269" r:id="rId17"/>
    <p:sldId id="270" r:id="rId18"/>
    <p:sldId id="271" r:id="rId19"/>
    <p:sldId id="272" r:id="rId20"/>
    <p:sldId id="273" r:id="rId21"/>
    <p:sldId id="276" r:id="rId22"/>
    <p:sldId id="277" r:id="rId23"/>
    <p:sldId id="281" r:id="rId24"/>
    <p:sldId id="28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4660"/>
  </p:normalViewPr>
  <p:slideViewPr>
    <p:cSldViewPr snapToGrid="0">
      <p:cViewPr varScale="1">
        <p:scale>
          <a:sx n="115" d="100"/>
          <a:sy n="115" d="100"/>
        </p:scale>
        <p:origin x="318"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solidFill>
            <a:srgbClr val="CDD7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416E758-2C47-4C84-8621-350AD09A676D}" type="datetimeFigureOut">
              <a:rPr lang="en-GB" smtClean="0"/>
              <a:t>14/11/2019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3C7D48D-0A98-4D5D-B0A4-EF22F0598316}" type="slidenum">
              <a:rPr lang="en-GB" smtClean="0"/>
              <a:t>‹#›</a:t>
            </a:fld>
            <a:endParaRPr lang="en-GB"/>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6158275"/>
            <a:ext cx="1425146" cy="52436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416E758-2C47-4C84-8621-350AD09A676D}" type="datetimeFigureOut">
              <a:rPr lang="en-GB" smtClean="0"/>
              <a:t>14/11/2019</a:t>
            </a:fld>
            <a:endParaRPr lang="en-GB"/>
          </a:p>
        </p:txBody>
      </p:sp>
      <p:sp>
        <p:nvSpPr>
          <p:cNvPr id="5" name="Footer Placeholder 4"/>
          <p:cNvSpPr>
            <a:spLocks noGrp="1"/>
          </p:cNvSpPr>
          <p:nvPr>
            <p:ph type="ftr" sz="quarter" idx="11"/>
          </p:nvPr>
        </p:nvSpPr>
        <p:spPr>
          <a:xfrm>
            <a:off x="258186" y="6250165"/>
            <a:ext cx="4227318" cy="365125"/>
          </a:xfrm>
        </p:spPr>
        <p:txBody>
          <a:bodyPr/>
          <a:lstStyle/>
          <a:p>
            <a:endParaRPr lang="en-GB"/>
          </a:p>
        </p:txBody>
      </p:sp>
      <p:sp>
        <p:nvSpPr>
          <p:cNvPr id="6" name="Slide Number Placeholder 5"/>
          <p:cNvSpPr>
            <a:spLocks noGrp="1"/>
          </p:cNvSpPr>
          <p:nvPr>
            <p:ph type="sldNum" sz="quarter" idx="12"/>
          </p:nvPr>
        </p:nvSpPr>
        <p:spPr/>
        <p:txBody>
          <a:bodyPr/>
          <a:lstStyle/>
          <a:p>
            <a:fld id="{43C7D48D-0A98-4D5D-B0A4-EF22F0598316}" type="slidenum">
              <a:rPr lang="en-GB" smtClean="0"/>
              <a:t>‹#›</a:t>
            </a:fld>
            <a:endParaRPr lang="en-GB"/>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left)">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solidFill>
            <a:srgbClr val="CDD7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8063251"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3492427"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7479319" y="4074175"/>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16E758-2C47-4C84-8621-350AD09A676D}" type="datetimeFigureOut">
              <a:rPr lang="en-GB" smtClean="0"/>
              <a:t>14/11/2019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3C7D48D-0A98-4D5D-B0A4-EF22F0598316}" type="slidenum">
              <a:rPr lang="en-GB" smtClean="0"/>
              <a:t>‹#›</a:t>
            </a:fld>
            <a:endParaRPr lang="en-GB"/>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6165305"/>
            <a:ext cx="1486930" cy="52436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7416E758-2C47-4C84-8621-350AD09A676D}" type="datetimeFigureOut">
              <a:rPr lang="en-GB" smtClean="0"/>
              <a:t>14/11/2019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3C7D48D-0A98-4D5D-B0A4-EF22F0598316}" type="slidenum">
              <a:rPr lang="en-GB" smtClean="0"/>
              <a:t>‹#›</a:t>
            </a:fld>
            <a:endParaRPr lang="en-GB"/>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rgbClr val="7D832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03110" y="3429001"/>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rgbClr val="7D8327"/>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3429001"/>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416E758-2C47-4C84-8621-350AD09A676D}" type="datetimeFigureOut">
              <a:rPr lang="en-GB" smtClean="0"/>
              <a:t>14/11/2019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3C7D48D-0A98-4D5D-B0A4-EF22F0598316}"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16E758-2C47-4C84-8621-350AD09A676D}" type="datetimeFigureOut">
              <a:rPr lang="en-GB" smtClean="0"/>
              <a:t>14/11/2019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3C7D48D-0A98-4D5D-B0A4-EF22F0598316}"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solidFill>
            <a:srgbClr val="CDD7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7416E758-2C47-4C84-8621-350AD09A676D}" type="datetimeFigureOut">
              <a:rPr lang="en-GB" smtClean="0"/>
              <a:t>14/11/2019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3C7D48D-0A98-4D5D-B0A4-EF22F0598316}"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solidFill>
            <a:srgbClr val="CDD7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7416E758-2C47-4C84-8621-350AD09A676D}" type="datetimeFigureOut">
              <a:rPr lang="en-GB" smtClean="0"/>
              <a:t>14/11/2019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3C7D48D-0A98-4D5D-B0A4-EF22F0598316}" type="slidenum">
              <a:rPr lang="en-GB" smtClean="0"/>
              <a:t>‹#›</a:t>
            </a:fld>
            <a:endParaRPr lang="en-GB"/>
          </a:p>
        </p:txBody>
      </p:sp>
      <p:sp>
        <p:nvSpPr>
          <p:cNvPr id="4" name="Text Placeholder 3"/>
          <p:cNvSpPr>
            <a:spLocks noGrp="1"/>
          </p:cNvSpPr>
          <p:nvPr>
            <p:ph type="body" sz="half" idx="2"/>
          </p:nvPr>
        </p:nvSpPr>
        <p:spPr>
          <a:xfrm>
            <a:off x="1219200" y="3581401"/>
            <a:ext cx="4470400" cy="1905001"/>
          </a:xfrm>
        </p:spPr>
        <p:txBody>
          <a:bodyPr anchor="t">
            <a:normAutofit/>
          </a:bodyPr>
          <a:lstStyle>
            <a:lvl1pPr marL="0" indent="0">
              <a:spcBef>
                <a:spcPts val="0"/>
              </a:spcBef>
              <a:spcAft>
                <a:spcPts val="600"/>
              </a:spcAft>
              <a:buNone/>
              <a:defRPr sz="1800">
                <a:solidFill>
                  <a:srgbClr val="7D8327"/>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rgbClr val="7D8327"/>
                </a:solidFill>
              </a:defRPr>
            </a:lvl1pPr>
          </a:lstStyle>
          <a:p>
            <a:r>
              <a:rPr lang="en-US"/>
              <a:t>Click to edit Master title style</a:t>
            </a:r>
            <a:endParaRPr lang="en-US" dirty="0"/>
          </a:p>
        </p:txBody>
      </p:sp>
      <p:sp>
        <p:nvSpPr>
          <p:cNvPr id="3" name="Content Placeholder 2"/>
          <p:cNvSpPr>
            <a:spLocks noGrp="1"/>
          </p:cNvSpPr>
          <p:nvPr>
            <p:ph idx="1"/>
          </p:nvPr>
        </p:nvSpPr>
        <p:spPr>
          <a:xfrm>
            <a:off x="6202616" y="1828800"/>
            <a:ext cx="5205435" cy="3810000"/>
          </a:xfrm>
        </p:spPr>
        <p:txBody>
          <a:bodyPr anchor="ctr"/>
          <a:lstStyle>
            <a:lvl1pPr>
              <a:buClr>
                <a:schemeClr val="bg1"/>
              </a:buClr>
              <a:defRPr sz="2200">
                <a:solidFill>
                  <a:srgbClr val="7D8327"/>
                </a:solidFill>
              </a:defRPr>
            </a:lvl1pPr>
            <a:lvl2pPr>
              <a:buClr>
                <a:schemeClr val="bg1"/>
              </a:buClr>
              <a:defRPr sz="2000">
                <a:solidFill>
                  <a:srgbClr val="7D8327"/>
                </a:solidFill>
              </a:defRPr>
            </a:lvl2pPr>
            <a:lvl3pPr>
              <a:buClr>
                <a:schemeClr val="bg1"/>
              </a:buClr>
              <a:defRPr sz="1800">
                <a:solidFill>
                  <a:srgbClr val="7D8327"/>
                </a:solidFill>
              </a:defRPr>
            </a:lvl3pPr>
            <a:lvl4pPr>
              <a:buClr>
                <a:schemeClr val="bg1"/>
              </a:buClr>
              <a:defRPr sz="1600">
                <a:solidFill>
                  <a:srgbClr val="7D8327"/>
                </a:solidFill>
              </a:defRPr>
            </a:lvl4pPr>
            <a:lvl5pPr>
              <a:buClr>
                <a:schemeClr val="bg1"/>
              </a:buClr>
              <a:defRPr sz="1600">
                <a:solidFill>
                  <a:srgbClr val="7D8327"/>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7" name="Picture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6158275"/>
            <a:ext cx="1770896" cy="524369"/>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solidFill>
            <a:srgbClr val="CDD7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6498874"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2"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6E758-2C47-4C84-8621-350AD09A676D}" type="datetimeFigureOut">
              <a:rPr lang="en-GB" smtClean="0"/>
              <a:t>14/11/2019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3C7D48D-0A98-4D5D-B0A4-EF22F0598316}" type="slidenum">
              <a:rPr lang="en-GB" smtClean="0"/>
              <a:t>‹#›</a:t>
            </a:fld>
            <a:endParaRPr lang="en-GB"/>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17" name="Picture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6158275"/>
            <a:ext cx="1770896" cy="524369"/>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16E758-2C47-4C84-8621-350AD09A676D}" type="datetimeFigureOut">
              <a:rPr lang="en-GB" smtClean="0"/>
              <a:t>14/11/2019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3C7D48D-0A98-4D5D-B0A4-EF22F0598316}"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solidFill>
            <a:srgbClr val="CDD7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7416E758-2C47-4C84-8621-350AD09A676D}" type="datetimeFigureOut">
              <a:rPr lang="en-GB" smtClean="0"/>
              <a:t>14/11/2019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3C7D48D-0A98-4D5D-B0A4-EF22F0598316}" type="slidenum">
              <a:rPr lang="en-GB" smtClean="0"/>
              <a:t>‹#›</a:t>
            </a:fld>
            <a:endParaRPr lang="en-GB"/>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8839200" y="1447801"/>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2" name="Picture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6158275"/>
            <a:ext cx="1770896" cy="52436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solidFill>
            <a:srgbClr val="CDD7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65"/>
            <a:ext cx="5048920" cy="365125"/>
          </a:xfrm>
          <a:prstGeom prst="rect">
            <a:avLst/>
          </a:prstGeom>
        </p:spPr>
        <p:txBody>
          <a:bodyPr vert="horz" lIns="91440" tIns="45720" rIns="91440" bIns="45720" rtlCol="0" anchor="ctr"/>
          <a:lstStyle>
            <a:lvl1pPr algn="r">
              <a:defRPr sz="1000">
                <a:solidFill>
                  <a:schemeClr val="tx2"/>
                </a:solidFill>
              </a:defRPr>
            </a:lvl1pPr>
          </a:lstStyle>
          <a:p>
            <a:fld id="{7416E758-2C47-4C84-8621-350AD09A676D}" type="datetimeFigureOut">
              <a:rPr lang="en-GB" smtClean="0"/>
              <a:t>14/11/2019</a:t>
            </a:fld>
            <a:endParaRPr lang="en-GB"/>
          </a:p>
        </p:txBody>
      </p:sp>
      <p:sp>
        <p:nvSpPr>
          <p:cNvPr id="5" name="Footer Placeholder 4"/>
          <p:cNvSpPr>
            <a:spLocks noGrp="1"/>
          </p:cNvSpPr>
          <p:nvPr>
            <p:ph type="ftr" sz="quarter" idx="3"/>
          </p:nvPr>
        </p:nvSpPr>
        <p:spPr>
          <a:xfrm>
            <a:off x="258185" y="6250165"/>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GB"/>
          </a:p>
        </p:txBody>
      </p:sp>
      <p:sp>
        <p:nvSpPr>
          <p:cNvPr id="6" name="Slide Number Placeholder 5"/>
          <p:cNvSpPr>
            <a:spLocks noGrp="1"/>
          </p:cNvSpPr>
          <p:nvPr>
            <p:ph type="sldNum" sz="quarter" idx="4"/>
          </p:nvPr>
        </p:nvSpPr>
        <p:spPr>
          <a:xfrm>
            <a:off x="5321451" y="6250164"/>
            <a:ext cx="1549101" cy="365125"/>
          </a:xfrm>
          <a:prstGeom prst="rect">
            <a:avLst/>
          </a:prstGeom>
        </p:spPr>
        <p:txBody>
          <a:bodyPr vert="horz" lIns="91440" tIns="45720" rIns="91440" bIns="45720" rtlCol="0" anchor="ctr"/>
          <a:lstStyle>
            <a:lvl1pPr algn="ctr">
              <a:defRPr sz="1000">
                <a:solidFill>
                  <a:schemeClr val="tx2"/>
                </a:solidFill>
              </a:defRPr>
            </a:lvl1pPr>
          </a:lstStyle>
          <a:p>
            <a:fld id="{43C7D48D-0A98-4D5D-B0A4-EF22F0598316}" type="slidenum">
              <a:rPr lang="en-GB" smtClean="0"/>
              <a:t>‹#›</a:t>
            </a:fld>
            <a:endParaRPr lang="en-GB"/>
          </a:p>
        </p:txBody>
      </p:sp>
      <p:sp>
        <p:nvSpPr>
          <p:cNvPr id="3" name="Text Placeholder 2"/>
          <p:cNvSpPr>
            <a:spLocks noGrp="1"/>
          </p:cNvSpPr>
          <p:nvPr>
            <p:ph type="body" idx="1"/>
          </p:nvPr>
        </p:nvSpPr>
        <p:spPr>
          <a:xfrm>
            <a:off x="1162757" y="2675467"/>
            <a:ext cx="9877777"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6" name="Picture 15"/>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04800" y="6158275"/>
            <a:ext cx="1462216" cy="524369"/>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rgbClr val="7D8327"/>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rgbClr val="7D8327"/>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rgbClr val="7D8327"/>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rgbClr val="7D8327"/>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rgbClr val="7D8327"/>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8417-BEA3-4E4E-AB22-1A0082C0B0BD}"/>
              </a:ext>
            </a:extLst>
          </p:cNvPr>
          <p:cNvSpPr>
            <a:spLocks noGrp="1"/>
          </p:cNvSpPr>
          <p:nvPr>
            <p:ph type="ctrTitle"/>
          </p:nvPr>
        </p:nvSpPr>
        <p:spPr/>
        <p:txBody>
          <a:bodyPr>
            <a:normAutofit/>
          </a:bodyPr>
          <a:lstStyle/>
          <a:p>
            <a:r>
              <a:rPr lang="en-GB" dirty="0"/>
              <a:t>Further exploring the PDA profile – evidence from clinical cases</a:t>
            </a:r>
          </a:p>
        </p:txBody>
      </p:sp>
      <p:sp>
        <p:nvSpPr>
          <p:cNvPr id="3" name="Subtitle 2">
            <a:extLst>
              <a:ext uri="{FF2B5EF4-FFF2-40B4-BE49-F238E27FC236}">
                <a16:creationId xmlns:a16="http://schemas.microsoft.com/office/drawing/2014/main" id="{B29FA233-2F79-4816-86EE-4A4794DD30D1}"/>
              </a:ext>
            </a:extLst>
          </p:cNvPr>
          <p:cNvSpPr>
            <a:spLocks noGrp="1"/>
          </p:cNvSpPr>
          <p:nvPr>
            <p:ph type="subTitle" idx="1"/>
          </p:nvPr>
        </p:nvSpPr>
        <p:spPr/>
        <p:txBody>
          <a:bodyPr/>
          <a:lstStyle/>
          <a:p>
            <a:r>
              <a:rPr lang="en-GB" dirty="0"/>
              <a:t>Dr Judy Eaton</a:t>
            </a:r>
          </a:p>
        </p:txBody>
      </p:sp>
    </p:spTree>
    <p:extLst>
      <p:ext uri="{BB962C8B-B14F-4D97-AF65-F5344CB8AC3E}">
        <p14:creationId xmlns:p14="http://schemas.microsoft.com/office/powerpoint/2010/main" val="1161084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84E181-EFF5-479C-8A39-CC83EE2D96B6}"/>
              </a:ext>
            </a:extLst>
          </p:cNvPr>
          <p:cNvSpPr>
            <a:spLocks noGrp="1"/>
          </p:cNvSpPr>
          <p:nvPr>
            <p:ph idx="1"/>
          </p:nvPr>
        </p:nvSpPr>
        <p:spPr/>
        <p:txBody>
          <a:bodyPr/>
          <a:lstStyle/>
          <a:p>
            <a:r>
              <a:rPr lang="en-GB" dirty="0"/>
              <a:t>The concept of Pathological Demand Avoidance has provoked extensive (and often emotionally argued) discussion about what it is, is not or potentially could be</a:t>
            </a:r>
          </a:p>
          <a:p>
            <a:pPr marL="0" indent="0">
              <a:buNone/>
            </a:pPr>
            <a:endParaRPr lang="en-GB" dirty="0"/>
          </a:p>
          <a:p>
            <a:r>
              <a:rPr lang="en-GB" dirty="0"/>
              <a:t>There remains some controversy regarding its specificity as a ‘profile’, including what the criteria for identifying it should be and how best to support families and young people who present with extreme anxiety and often challenging and distressing behaviour</a:t>
            </a:r>
          </a:p>
        </p:txBody>
      </p:sp>
      <p:sp>
        <p:nvSpPr>
          <p:cNvPr id="2" name="Title 1">
            <a:extLst>
              <a:ext uri="{FF2B5EF4-FFF2-40B4-BE49-F238E27FC236}">
                <a16:creationId xmlns:a16="http://schemas.microsoft.com/office/drawing/2014/main" id="{0D87DB05-99A5-41F1-8DDC-909614ACF443}"/>
              </a:ext>
            </a:extLst>
          </p:cNvPr>
          <p:cNvSpPr>
            <a:spLocks noGrp="1"/>
          </p:cNvSpPr>
          <p:nvPr>
            <p:ph type="title"/>
          </p:nvPr>
        </p:nvSpPr>
        <p:spPr/>
        <p:txBody>
          <a:bodyPr/>
          <a:lstStyle/>
          <a:p>
            <a:r>
              <a:rPr lang="en-GB" dirty="0"/>
              <a:t>Background</a:t>
            </a:r>
          </a:p>
        </p:txBody>
      </p:sp>
    </p:spTree>
    <p:extLst>
      <p:ext uri="{BB962C8B-B14F-4D97-AF65-F5344CB8AC3E}">
        <p14:creationId xmlns:p14="http://schemas.microsoft.com/office/powerpoint/2010/main" val="3981588588"/>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410EE7-C39F-4326-BB46-4F853FE7553C}"/>
              </a:ext>
            </a:extLst>
          </p:cNvPr>
          <p:cNvSpPr>
            <a:spLocks noGrp="1"/>
          </p:cNvSpPr>
          <p:nvPr>
            <p:ph idx="1"/>
          </p:nvPr>
        </p:nvSpPr>
        <p:spPr/>
        <p:txBody>
          <a:bodyPr>
            <a:normAutofit fontScale="92500" lnSpcReduction="10000"/>
          </a:bodyPr>
          <a:lstStyle/>
          <a:p>
            <a:r>
              <a:rPr lang="en-GB" dirty="0"/>
              <a:t>A recent paper by Prof Jonathan Green and his colleagues (Green et al, 2018) published in the Lancet outlines his team’s thinking about what PDA might be and whether there was currently sufficient good quality research evidence to clarify this</a:t>
            </a:r>
          </a:p>
          <a:p>
            <a:endParaRPr lang="en-GB" dirty="0"/>
          </a:p>
          <a:p>
            <a:r>
              <a:rPr lang="en-GB" dirty="0"/>
              <a:t>They concluded that, although as clinicians, they were aware of and had observed the types of challenge experienced by some families and young people, they did not feel there was sufficient evidence to consider PDA as  a separate and discrete diagnostic category, but more as a constellation of behaviours.</a:t>
            </a:r>
          </a:p>
        </p:txBody>
      </p:sp>
      <p:sp>
        <p:nvSpPr>
          <p:cNvPr id="2" name="Title 1">
            <a:extLst>
              <a:ext uri="{FF2B5EF4-FFF2-40B4-BE49-F238E27FC236}">
                <a16:creationId xmlns:a16="http://schemas.microsoft.com/office/drawing/2014/main" id="{5A3835A4-6794-4A1F-B1F5-1485DD41BBEC}"/>
              </a:ext>
            </a:extLst>
          </p:cNvPr>
          <p:cNvSpPr>
            <a:spLocks noGrp="1"/>
          </p:cNvSpPr>
          <p:nvPr>
            <p:ph type="title"/>
          </p:nvPr>
        </p:nvSpPr>
        <p:spPr/>
        <p:txBody>
          <a:bodyPr/>
          <a:lstStyle/>
          <a:p>
            <a:r>
              <a:rPr lang="en-GB" dirty="0"/>
              <a:t>Background</a:t>
            </a:r>
          </a:p>
        </p:txBody>
      </p:sp>
    </p:spTree>
    <p:extLst>
      <p:ext uri="{BB962C8B-B14F-4D97-AF65-F5344CB8AC3E}">
        <p14:creationId xmlns:p14="http://schemas.microsoft.com/office/powerpoint/2010/main" val="3052419415"/>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D77992-68D8-4DCF-833D-FE8523A5E94F}"/>
              </a:ext>
            </a:extLst>
          </p:cNvPr>
          <p:cNvSpPr>
            <a:spLocks noGrp="1"/>
          </p:cNvSpPr>
          <p:nvPr>
            <p:ph idx="1"/>
          </p:nvPr>
        </p:nvSpPr>
        <p:spPr/>
        <p:txBody>
          <a:bodyPr/>
          <a:lstStyle/>
          <a:p>
            <a:r>
              <a:rPr lang="en-GB" dirty="0"/>
              <a:t>There has also been debate about whether children and young people with PDA all meet the criteria for a diagnosis of Autism or whether extreme demand avoidance is seen in other groups</a:t>
            </a:r>
          </a:p>
          <a:p>
            <a:pPr marL="0" indent="0">
              <a:buNone/>
            </a:pPr>
            <a:endParaRPr lang="en-GB" dirty="0"/>
          </a:p>
          <a:p>
            <a:r>
              <a:rPr lang="en-GB" dirty="0"/>
              <a:t>‘Critical Autism’ academics, such as Richard Woods have argued that PDA has no specificity and is better considered as a trauma response to adverse events in the environment</a:t>
            </a:r>
          </a:p>
        </p:txBody>
      </p:sp>
      <p:sp>
        <p:nvSpPr>
          <p:cNvPr id="2" name="Title 1">
            <a:extLst>
              <a:ext uri="{FF2B5EF4-FFF2-40B4-BE49-F238E27FC236}">
                <a16:creationId xmlns:a16="http://schemas.microsoft.com/office/drawing/2014/main" id="{ADCA263A-3385-42BD-BB66-B6D4A5711E85}"/>
              </a:ext>
            </a:extLst>
          </p:cNvPr>
          <p:cNvSpPr>
            <a:spLocks noGrp="1"/>
          </p:cNvSpPr>
          <p:nvPr>
            <p:ph type="title"/>
          </p:nvPr>
        </p:nvSpPr>
        <p:spPr/>
        <p:txBody>
          <a:bodyPr/>
          <a:lstStyle/>
          <a:p>
            <a:r>
              <a:rPr lang="en-GB" dirty="0"/>
              <a:t>Background</a:t>
            </a:r>
          </a:p>
        </p:txBody>
      </p:sp>
    </p:spTree>
    <p:extLst>
      <p:ext uri="{BB962C8B-B14F-4D97-AF65-F5344CB8AC3E}">
        <p14:creationId xmlns:p14="http://schemas.microsoft.com/office/powerpoint/2010/main" val="696908267"/>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7B92AB-217D-4D60-89FB-F751210A4643}"/>
              </a:ext>
            </a:extLst>
          </p:cNvPr>
          <p:cNvSpPr>
            <a:spLocks noGrp="1"/>
          </p:cNvSpPr>
          <p:nvPr>
            <p:ph idx="1"/>
          </p:nvPr>
        </p:nvSpPr>
        <p:spPr/>
        <p:txBody>
          <a:bodyPr>
            <a:normAutofit/>
          </a:bodyPr>
          <a:lstStyle/>
          <a:p>
            <a:r>
              <a:rPr lang="en-GB" dirty="0"/>
              <a:t>As a team, and in conjunction with leading academics such as Liz </a:t>
            </a:r>
            <a:r>
              <a:rPr lang="en-GB" dirty="0" err="1"/>
              <a:t>O’Nions</a:t>
            </a:r>
            <a:r>
              <a:rPr lang="en-GB" dirty="0"/>
              <a:t> and Professor Francesca Happe, we began a research project three years ago in an attempt to learn more about the PDA profile.</a:t>
            </a:r>
          </a:p>
          <a:p>
            <a:r>
              <a:rPr lang="en-GB" dirty="0"/>
              <a:t>All of our data were collected as a routine part of our usual assessment process</a:t>
            </a:r>
          </a:p>
          <a:p>
            <a:r>
              <a:rPr lang="en-GB" dirty="0"/>
              <a:t>Over a two year period, we examined data from 351 children who were all assessed in the same clinic environment, by the same team, using the same process and clinical assessment tools.</a:t>
            </a:r>
          </a:p>
          <a:p>
            <a:endParaRPr lang="en-GB" dirty="0"/>
          </a:p>
          <a:p>
            <a:pPr marL="0" indent="0">
              <a:buNone/>
            </a:pPr>
            <a:endParaRPr lang="en-GB" dirty="0"/>
          </a:p>
        </p:txBody>
      </p:sp>
      <p:sp>
        <p:nvSpPr>
          <p:cNvPr id="2" name="Title 1">
            <a:extLst>
              <a:ext uri="{FF2B5EF4-FFF2-40B4-BE49-F238E27FC236}">
                <a16:creationId xmlns:a16="http://schemas.microsoft.com/office/drawing/2014/main" id="{1D136327-4FE1-4673-A1E8-836D92E55FDA}"/>
              </a:ext>
            </a:extLst>
          </p:cNvPr>
          <p:cNvSpPr>
            <a:spLocks noGrp="1"/>
          </p:cNvSpPr>
          <p:nvPr>
            <p:ph type="title"/>
          </p:nvPr>
        </p:nvSpPr>
        <p:spPr/>
        <p:txBody>
          <a:bodyPr/>
          <a:lstStyle/>
          <a:p>
            <a:r>
              <a:rPr lang="en-GB" dirty="0"/>
              <a:t>Background</a:t>
            </a:r>
          </a:p>
        </p:txBody>
      </p:sp>
    </p:spTree>
    <p:extLst>
      <p:ext uri="{BB962C8B-B14F-4D97-AF65-F5344CB8AC3E}">
        <p14:creationId xmlns:p14="http://schemas.microsoft.com/office/powerpoint/2010/main" val="2378697661"/>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DBC0B-3FA3-495D-B5A9-48EECD86EDF9}"/>
              </a:ext>
            </a:extLst>
          </p:cNvPr>
          <p:cNvSpPr>
            <a:spLocks noGrp="1"/>
          </p:cNvSpPr>
          <p:nvPr>
            <p:ph idx="1"/>
          </p:nvPr>
        </p:nvSpPr>
        <p:spPr/>
        <p:txBody>
          <a:bodyPr/>
          <a:lstStyle/>
          <a:p>
            <a:r>
              <a:rPr lang="en-GB" dirty="0"/>
              <a:t>As we are known as a centre with a good understanding of both Autism and the PDA profile, we openly acknowledge that our sample is likely to include a greater proportion of children presenting with the PDA profile than most CAMHS teams would tend to see.</a:t>
            </a:r>
          </a:p>
        </p:txBody>
      </p:sp>
      <p:sp>
        <p:nvSpPr>
          <p:cNvPr id="2" name="Title 1">
            <a:extLst>
              <a:ext uri="{FF2B5EF4-FFF2-40B4-BE49-F238E27FC236}">
                <a16:creationId xmlns:a16="http://schemas.microsoft.com/office/drawing/2014/main" id="{1C577A6B-6A14-46E4-882A-F50525DDB57F}"/>
              </a:ext>
            </a:extLst>
          </p:cNvPr>
          <p:cNvSpPr>
            <a:spLocks noGrp="1"/>
          </p:cNvSpPr>
          <p:nvPr>
            <p:ph type="title"/>
          </p:nvPr>
        </p:nvSpPr>
        <p:spPr/>
        <p:txBody>
          <a:bodyPr/>
          <a:lstStyle/>
          <a:p>
            <a:r>
              <a:rPr lang="en-GB" dirty="0"/>
              <a:t>Background</a:t>
            </a:r>
          </a:p>
        </p:txBody>
      </p:sp>
    </p:spTree>
    <p:extLst>
      <p:ext uri="{BB962C8B-B14F-4D97-AF65-F5344CB8AC3E}">
        <p14:creationId xmlns:p14="http://schemas.microsoft.com/office/powerpoint/2010/main" val="4256494845"/>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C994B4-982D-4CEA-8771-E4694F2D1392}"/>
              </a:ext>
            </a:extLst>
          </p:cNvPr>
          <p:cNvSpPr>
            <a:spLocks noGrp="1"/>
          </p:cNvSpPr>
          <p:nvPr>
            <p:ph idx="1"/>
          </p:nvPr>
        </p:nvSpPr>
        <p:spPr/>
        <p:txBody>
          <a:bodyPr>
            <a:normAutofit lnSpcReduction="10000"/>
          </a:bodyPr>
          <a:lstStyle/>
          <a:p>
            <a:pPr marL="0" indent="0">
              <a:buNone/>
            </a:pPr>
            <a:r>
              <a:rPr lang="en-GB" dirty="0"/>
              <a:t>351 children and young people were assessed</a:t>
            </a:r>
          </a:p>
          <a:p>
            <a:r>
              <a:rPr lang="en-GB" dirty="0"/>
              <a:t>150	females</a:t>
            </a:r>
          </a:p>
          <a:p>
            <a:r>
              <a:rPr lang="en-GB" dirty="0"/>
              <a:t>201   males</a:t>
            </a:r>
          </a:p>
          <a:p>
            <a:pPr marL="0" indent="0">
              <a:buNone/>
            </a:pPr>
            <a:r>
              <a:rPr lang="en-GB" dirty="0"/>
              <a:t>Age range</a:t>
            </a:r>
          </a:p>
          <a:p>
            <a:r>
              <a:rPr lang="en-GB" dirty="0"/>
              <a:t>3 – 5 years		43</a:t>
            </a:r>
          </a:p>
          <a:p>
            <a:r>
              <a:rPr lang="en-GB" dirty="0"/>
              <a:t>6 – 10 years	             171</a:t>
            </a:r>
          </a:p>
          <a:p>
            <a:r>
              <a:rPr lang="en-GB" dirty="0"/>
              <a:t>11 – 17 years	             101</a:t>
            </a:r>
          </a:p>
          <a:p>
            <a:r>
              <a:rPr lang="en-GB" dirty="0"/>
              <a:t>17 – 19 years	35</a:t>
            </a:r>
          </a:p>
          <a:p>
            <a:endParaRPr lang="en-GB" dirty="0"/>
          </a:p>
          <a:p>
            <a:endParaRPr lang="en-GB" dirty="0"/>
          </a:p>
        </p:txBody>
      </p:sp>
      <p:sp>
        <p:nvSpPr>
          <p:cNvPr id="2" name="Title 1">
            <a:extLst>
              <a:ext uri="{FF2B5EF4-FFF2-40B4-BE49-F238E27FC236}">
                <a16:creationId xmlns:a16="http://schemas.microsoft.com/office/drawing/2014/main" id="{CAB34E06-ACFC-4716-8A0B-A601B9A91241}"/>
              </a:ext>
            </a:extLst>
          </p:cNvPr>
          <p:cNvSpPr>
            <a:spLocks noGrp="1"/>
          </p:cNvSpPr>
          <p:nvPr>
            <p:ph type="title"/>
          </p:nvPr>
        </p:nvSpPr>
        <p:spPr/>
        <p:txBody>
          <a:bodyPr/>
          <a:lstStyle/>
          <a:p>
            <a:r>
              <a:rPr lang="en-GB" dirty="0"/>
              <a:t>Details of our sample</a:t>
            </a:r>
          </a:p>
        </p:txBody>
      </p:sp>
    </p:spTree>
    <p:extLst>
      <p:ext uri="{BB962C8B-B14F-4D97-AF65-F5344CB8AC3E}">
        <p14:creationId xmlns:p14="http://schemas.microsoft.com/office/powerpoint/2010/main" val="564305918"/>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09B347-FDBC-4D96-9450-BB1FD6070D1C}"/>
              </a:ext>
            </a:extLst>
          </p:cNvPr>
          <p:cNvSpPr>
            <a:spLocks noGrp="1"/>
          </p:cNvSpPr>
          <p:nvPr>
            <p:ph idx="1"/>
          </p:nvPr>
        </p:nvSpPr>
        <p:spPr/>
        <p:txBody>
          <a:bodyPr>
            <a:normAutofit lnSpcReduction="10000"/>
          </a:bodyPr>
          <a:lstStyle/>
          <a:p>
            <a:pPr marL="0" indent="0">
              <a:buNone/>
            </a:pPr>
            <a:endParaRPr lang="en-GB" dirty="0"/>
          </a:p>
          <a:p>
            <a:r>
              <a:rPr lang="en-GB" dirty="0"/>
              <a:t>Cognitive assessment (WPPSI IV, WISC V or WAIS IV depending upon the age of the child)</a:t>
            </a:r>
          </a:p>
          <a:p>
            <a:r>
              <a:rPr lang="en-GB" dirty="0"/>
              <a:t>The CCC2 (Children’s Communication Checklist – Dorothy Bishop)</a:t>
            </a:r>
          </a:p>
          <a:p>
            <a:r>
              <a:rPr lang="en-GB" dirty="0"/>
              <a:t>The Short Sensory Profile/Adolescent Sensory Profile – Winnie Dunn</a:t>
            </a:r>
          </a:p>
          <a:p>
            <a:r>
              <a:rPr lang="en-GB" dirty="0"/>
              <a:t>The ADOS (Autism Diagnostic Observation Schedule) modules 2, 3 or 4</a:t>
            </a:r>
          </a:p>
          <a:p>
            <a:r>
              <a:rPr lang="en-GB" dirty="0"/>
              <a:t>The EDA-Q – Extreme Demand Avoidance Questionnaire – </a:t>
            </a:r>
            <a:r>
              <a:rPr lang="en-GB" dirty="0" err="1"/>
              <a:t>O’Nions</a:t>
            </a:r>
            <a:endParaRPr lang="en-GB" dirty="0"/>
          </a:p>
          <a:p>
            <a:r>
              <a:rPr lang="en-GB" dirty="0"/>
              <a:t>A full developmental and family history</a:t>
            </a:r>
          </a:p>
        </p:txBody>
      </p:sp>
      <p:sp>
        <p:nvSpPr>
          <p:cNvPr id="2" name="Title 1">
            <a:extLst>
              <a:ext uri="{FF2B5EF4-FFF2-40B4-BE49-F238E27FC236}">
                <a16:creationId xmlns:a16="http://schemas.microsoft.com/office/drawing/2014/main" id="{7F957BBB-3A02-42CD-99E6-332C3DD597A0}"/>
              </a:ext>
            </a:extLst>
          </p:cNvPr>
          <p:cNvSpPr>
            <a:spLocks noGrp="1"/>
          </p:cNvSpPr>
          <p:nvPr>
            <p:ph type="title"/>
          </p:nvPr>
        </p:nvSpPr>
        <p:spPr/>
        <p:txBody>
          <a:bodyPr/>
          <a:lstStyle/>
          <a:p>
            <a:r>
              <a:rPr lang="en-GB" dirty="0"/>
              <a:t>Assessment tools used</a:t>
            </a:r>
          </a:p>
        </p:txBody>
      </p:sp>
    </p:spTree>
    <p:extLst>
      <p:ext uri="{BB962C8B-B14F-4D97-AF65-F5344CB8AC3E}">
        <p14:creationId xmlns:p14="http://schemas.microsoft.com/office/powerpoint/2010/main" val="1010412530"/>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F5AD56-6F28-4FBC-AAED-2C5F5188ADD9}"/>
              </a:ext>
            </a:extLst>
          </p:cNvPr>
          <p:cNvSpPr>
            <a:spLocks noGrp="1"/>
          </p:cNvSpPr>
          <p:nvPr>
            <p:ph idx="1"/>
          </p:nvPr>
        </p:nvSpPr>
        <p:spPr/>
        <p:txBody>
          <a:bodyPr>
            <a:normAutofit fontScale="92500" lnSpcReduction="10000"/>
          </a:bodyPr>
          <a:lstStyle/>
          <a:p>
            <a:r>
              <a:rPr lang="en-GB" dirty="0"/>
              <a:t>As you can imagine, this has generated a vast amount of data for us to consider and analyse</a:t>
            </a:r>
          </a:p>
          <a:p>
            <a:pPr marL="0" indent="0">
              <a:buNone/>
            </a:pPr>
            <a:endParaRPr lang="en-GB" dirty="0"/>
          </a:p>
          <a:p>
            <a:r>
              <a:rPr lang="en-GB" dirty="0"/>
              <a:t>We are still in the process of looking through all of it.</a:t>
            </a:r>
          </a:p>
          <a:p>
            <a:pPr marL="0" indent="0">
              <a:buNone/>
            </a:pPr>
            <a:endParaRPr lang="en-GB" dirty="0"/>
          </a:p>
          <a:p>
            <a:r>
              <a:rPr lang="en-GB" dirty="0"/>
              <a:t>I will only talk about part of it today</a:t>
            </a:r>
          </a:p>
          <a:p>
            <a:endParaRPr lang="en-GB" dirty="0"/>
          </a:p>
          <a:p>
            <a:r>
              <a:rPr lang="en-GB" dirty="0"/>
              <a:t>This information will be presented in ‘lay-person’ terms.  The full details have been included in a write up for submission to academic journals.</a:t>
            </a:r>
          </a:p>
        </p:txBody>
      </p:sp>
      <p:sp>
        <p:nvSpPr>
          <p:cNvPr id="2" name="Title 1">
            <a:extLst>
              <a:ext uri="{FF2B5EF4-FFF2-40B4-BE49-F238E27FC236}">
                <a16:creationId xmlns:a16="http://schemas.microsoft.com/office/drawing/2014/main" id="{D73FDF5D-2723-48B2-BB25-84D53AEA72E7}"/>
              </a:ext>
            </a:extLst>
          </p:cNvPr>
          <p:cNvSpPr>
            <a:spLocks noGrp="1"/>
          </p:cNvSpPr>
          <p:nvPr>
            <p:ph type="title"/>
          </p:nvPr>
        </p:nvSpPr>
        <p:spPr/>
        <p:txBody>
          <a:bodyPr/>
          <a:lstStyle/>
          <a:p>
            <a:r>
              <a:rPr lang="en-GB" dirty="0"/>
              <a:t>Analysis of data</a:t>
            </a:r>
          </a:p>
        </p:txBody>
      </p:sp>
    </p:spTree>
    <p:extLst>
      <p:ext uri="{BB962C8B-B14F-4D97-AF65-F5344CB8AC3E}">
        <p14:creationId xmlns:p14="http://schemas.microsoft.com/office/powerpoint/2010/main" val="3158212611"/>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2B5E70-466D-4F0E-A3C0-283BAD305048}"/>
              </a:ext>
            </a:extLst>
          </p:cNvPr>
          <p:cNvSpPr>
            <a:spLocks noGrp="1"/>
          </p:cNvSpPr>
          <p:nvPr>
            <p:ph idx="1"/>
          </p:nvPr>
        </p:nvSpPr>
        <p:spPr/>
        <p:txBody>
          <a:bodyPr>
            <a:normAutofit fontScale="92500" lnSpcReduction="10000"/>
          </a:bodyPr>
          <a:lstStyle/>
          <a:p>
            <a:r>
              <a:rPr lang="en-GB" dirty="0"/>
              <a:t>In this study, we looked at the data gathered from the ADOS</a:t>
            </a:r>
          </a:p>
          <a:p>
            <a:r>
              <a:rPr lang="en-GB" dirty="0"/>
              <a:t>The ADOS is a structured assessment of social interaction and play and is considered one of the ‘gold standard’ assessments for Autism</a:t>
            </a:r>
          </a:p>
          <a:p>
            <a:r>
              <a:rPr lang="en-GB" dirty="0"/>
              <a:t>It should not be used in isolation as part of an Autism assessment and should be used alongside other tools and a good developmental history</a:t>
            </a:r>
          </a:p>
          <a:p>
            <a:r>
              <a:rPr lang="en-GB" dirty="0"/>
              <a:t>The ADOS has four different ‘modules’ – one, two, three and four</a:t>
            </a:r>
          </a:p>
          <a:p>
            <a:r>
              <a:rPr lang="en-GB" dirty="0"/>
              <a:t>The examiner selects the most appropriate module depending upon the age and ability of the child or young person</a:t>
            </a:r>
          </a:p>
          <a:p>
            <a:r>
              <a:rPr lang="en-GB" dirty="0"/>
              <a:t>We examined the data gathered from 136 children who were all assessed using Module Three.</a:t>
            </a:r>
          </a:p>
        </p:txBody>
      </p:sp>
      <p:sp>
        <p:nvSpPr>
          <p:cNvPr id="2" name="Title 1">
            <a:extLst>
              <a:ext uri="{FF2B5EF4-FFF2-40B4-BE49-F238E27FC236}">
                <a16:creationId xmlns:a16="http://schemas.microsoft.com/office/drawing/2014/main" id="{9D3F21F3-2BB5-4915-9F45-200919788A01}"/>
              </a:ext>
            </a:extLst>
          </p:cNvPr>
          <p:cNvSpPr>
            <a:spLocks noGrp="1"/>
          </p:cNvSpPr>
          <p:nvPr>
            <p:ph type="title"/>
          </p:nvPr>
        </p:nvSpPr>
        <p:spPr/>
        <p:txBody>
          <a:bodyPr/>
          <a:lstStyle/>
          <a:p>
            <a:r>
              <a:rPr lang="en-GB" dirty="0"/>
              <a:t>Study One</a:t>
            </a:r>
          </a:p>
        </p:txBody>
      </p:sp>
    </p:spTree>
    <p:extLst>
      <p:ext uri="{BB962C8B-B14F-4D97-AF65-F5344CB8AC3E}">
        <p14:creationId xmlns:p14="http://schemas.microsoft.com/office/powerpoint/2010/main" val="3485365479"/>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5CE73F-EF50-43FD-A51C-A4DFBF98339F}"/>
              </a:ext>
            </a:extLst>
          </p:cNvPr>
          <p:cNvSpPr>
            <a:spLocks noGrp="1"/>
          </p:cNvSpPr>
          <p:nvPr>
            <p:ph idx="1"/>
          </p:nvPr>
        </p:nvSpPr>
        <p:spPr/>
        <p:txBody>
          <a:bodyPr/>
          <a:lstStyle/>
          <a:p>
            <a:pPr marL="0" indent="0">
              <a:buNone/>
            </a:pPr>
            <a:r>
              <a:rPr lang="en-GB" dirty="0"/>
              <a:t>136 children in total</a:t>
            </a:r>
          </a:p>
          <a:p>
            <a:pPr marL="0" indent="0">
              <a:buNone/>
            </a:pPr>
            <a:endParaRPr lang="en-GB" dirty="0"/>
          </a:p>
          <a:p>
            <a:pPr marL="0" indent="0">
              <a:buNone/>
            </a:pPr>
            <a:r>
              <a:rPr lang="en-GB" dirty="0"/>
              <a:t>71 received a diagnosis of ASD</a:t>
            </a:r>
          </a:p>
          <a:p>
            <a:pPr marL="0" indent="0">
              <a:buNone/>
            </a:pPr>
            <a:r>
              <a:rPr lang="en-GB" dirty="0"/>
              <a:t>26 were girls</a:t>
            </a:r>
          </a:p>
          <a:p>
            <a:pPr marL="0" indent="0">
              <a:buNone/>
            </a:pPr>
            <a:r>
              <a:rPr lang="en-GB" dirty="0"/>
              <a:t>45 were boys</a:t>
            </a:r>
          </a:p>
          <a:p>
            <a:pPr marL="0" indent="0">
              <a:buNone/>
            </a:pPr>
            <a:endParaRPr lang="en-GB" dirty="0"/>
          </a:p>
          <a:p>
            <a:pPr marL="0" indent="0">
              <a:buNone/>
            </a:pPr>
            <a:r>
              <a:rPr lang="en-GB" dirty="0"/>
              <a:t>They ranged in age from 5 - 17</a:t>
            </a:r>
          </a:p>
        </p:txBody>
      </p:sp>
      <p:sp>
        <p:nvSpPr>
          <p:cNvPr id="2" name="Title 1">
            <a:extLst>
              <a:ext uri="{FF2B5EF4-FFF2-40B4-BE49-F238E27FC236}">
                <a16:creationId xmlns:a16="http://schemas.microsoft.com/office/drawing/2014/main" id="{BE35F71C-FC9A-4B40-AD8F-8BDC32EB7FAB}"/>
              </a:ext>
            </a:extLst>
          </p:cNvPr>
          <p:cNvSpPr>
            <a:spLocks noGrp="1"/>
          </p:cNvSpPr>
          <p:nvPr>
            <p:ph type="title"/>
          </p:nvPr>
        </p:nvSpPr>
        <p:spPr/>
        <p:txBody>
          <a:bodyPr/>
          <a:lstStyle/>
          <a:p>
            <a:r>
              <a:rPr lang="en-GB" dirty="0"/>
              <a:t>Participants</a:t>
            </a:r>
          </a:p>
        </p:txBody>
      </p:sp>
    </p:spTree>
    <p:extLst>
      <p:ext uri="{BB962C8B-B14F-4D97-AF65-F5344CB8AC3E}">
        <p14:creationId xmlns:p14="http://schemas.microsoft.com/office/powerpoint/2010/main" val="979784387"/>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7EDC80-BE22-486D-87EE-9995BF761665}"/>
              </a:ext>
            </a:extLst>
          </p:cNvPr>
          <p:cNvSpPr>
            <a:spLocks noGrp="1"/>
          </p:cNvSpPr>
          <p:nvPr>
            <p:ph idx="1"/>
          </p:nvPr>
        </p:nvSpPr>
        <p:spPr/>
        <p:txBody>
          <a:bodyPr/>
          <a:lstStyle/>
          <a:p>
            <a:r>
              <a:rPr lang="en-GB" dirty="0"/>
              <a:t>65 children were diagnosed first with Autism and then found to meet the criteria for PDA</a:t>
            </a:r>
          </a:p>
          <a:p>
            <a:endParaRPr lang="en-GB" dirty="0"/>
          </a:p>
          <a:p>
            <a:r>
              <a:rPr lang="en-GB" dirty="0"/>
              <a:t>31 were girls</a:t>
            </a:r>
          </a:p>
          <a:p>
            <a:r>
              <a:rPr lang="en-GB" dirty="0"/>
              <a:t>34 were boys</a:t>
            </a:r>
          </a:p>
          <a:p>
            <a:endParaRPr lang="en-GB" dirty="0"/>
          </a:p>
          <a:p>
            <a:r>
              <a:rPr lang="en-GB" dirty="0"/>
              <a:t>They ranged in age from 5 – 17 years</a:t>
            </a:r>
          </a:p>
        </p:txBody>
      </p:sp>
      <p:sp>
        <p:nvSpPr>
          <p:cNvPr id="2" name="Title 1">
            <a:extLst>
              <a:ext uri="{FF2B5EF4-FFF2-40B4-BE49-F238E27FC236}">
                <a16:creationId xmlns:a16="http://schemas.microsoft.com/office/drawing/2014/main" id="{55C69153-FD9E-4480-9ADD-71672FAB668C}"/>
              </a:ext>
            </a:extLst>
          </p:cNvPr>
          <p:cNvSpPr>
            <a:spLocks noGrp="1"/>
          </p:cNvSpPr>
          <p:nvPr>
            <p:ph type="title"/>
          </p:nvPr>
        </p:nvSpPr>
        <p:spPr/>
        <p:txBody>
          <a:bodyPr/>
          <a:lstStyle/>
          <a:p>
            <a:r>
              <a:rPr lang="en-GB" dirty="0"/>
              <a:t>Participants</a:t>
            </a:r>
          </a:p>
        </p:txBody>
      </p:sp>
    </p:spTree>
    <p:extLst>
      <p:ext uri="{BB962C8B-B14F-4D97-AF65-F5344CB8AC3E}">
        <p14:creationId xmlns:p14="http://schemas.microsoft.com/office/powerpoint/2010/main" val="226849943"/>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DC9458-4A93-4914-B566-4993A7C3F491}"/>
              </a:ext>
            </a:extLst>
          </p:cNvPr>
          <p:cNvSpPr>
            <a:spLocks noGrp="1"/>
          </p:cNvSpPr>
          <p:nvPr>
            <p:ph idx="1"/>
          </p:nvPr>
        </p:nvSpPr>
        <p:spPr/>
        <p:txBody>
          <a:bodyPr>
            <a:normAutofit/>
          </a:bodyPr>
          <a:lstStyle/>
          <a:p>
            <a:r>
              <a:rPr lang="en-GB" dirty="0"/>
              <a:t>Examination of the current literature combined with the extensive clinical knowledge of the assessment team, led to the development of an informal algorithm which was used to determine whether a child met the criteria for the Pathological (or Extreme) Demand Avoidant profile:</a:t>
            </a:r>
          </a:p>
          <a:p>
            <a:pPr lvl="0"/>
            <a:r>
              <a:rPr lang="en-GB" dirty="0"/>
              <a:t>The child or young person displayed (or was reported to have displayed) the main features outlined in the revised Newson checklist, the NAS website, the EDA-Q and the specific questions included in the DISCO.  These were recorded as part of the child’s developmental history.  </a:t>
            </a:r>
          </a:p>
          <a:p>
            <a:endParaRPr lang="en-GB" dirty="0"/>
          </a:p>
        </p:txBody>
      </p:sp>
      <p:sp>
        <p:nvSpPr>
          <p:cNvPr id="2" name="Title 1">
            <a:extLst>
              <a:ext uri="{FF2B5EF4-FFF2-40B4-BE49-F238E27FC236}">
                <a16:creationId xmlns:a16="http://schemas.microsoft.com/office/drawing/2014/main" id="{64286C9B-250E-4240-8089-CBDEC86589E5}"/>
              </a:ext>
            </a:extLst>
          </p:cNvPr>
          <p:cNvSpPr>
            <a:spLocks noGrp="1"/>
          </p:cNvSpPr>
          <p:nvPr>
            <p:ph type="title"/>
          </p:nvPr>
        </p:nvSpPr>
        <p:spPr/>
        <p:txBody>
          <a:bodyPr/>
          <a:lstStyle/>
          <a:p>
            <a:r>
              <a:rPr lang="en-GB" dirty="0"/>
              <a:t>Our Criteria for PDA</a:t>
            </a:r>
          </a:p>
        </p:txBody>
      </p:sp>
    </p:spTree>
    <p:extLst>
      <p:ext uri="{BB962C8B-B14F-4D97-AF65-F5344CB8AC3E}">
        <p14:creationId xmlns:p14="http://schemas.microsoft.com/office/powerpoint/2010/main" val="3011631283"/>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A3BE5F-EA56-4D2C-B767-EA23311C49E9}"/>
              </a:ext>
            </a:extLst>
          </p:cNvPr>
          <p:cNvSpPr>
            <a:spLocks noGrp="1"/>
          </p:cNvSpPr>
          <p:nvPr>
            <p:ph idx="1"/>
          </p:nvPr>
        </p:nvSpPr>
        <p:spPr/>
        <p:txBody>
          <a:bodyPr/>
          <a:lstStyle/>
          <a:p>
            <a:r>
              <a:rPr lang="en-GB" dirty="0"/>
              <a:t>Demand avoidance had been present since early infancy and presented across contexts and time </a:t>
            </a:r>
          </a:p>
          <a:p>
            <a:endParaRPr lang="en-GB" dirty="0"/>
          </a:p>
          <a:p>
            <a:r>
              <a:rPr lang="en-GB" dirty="0"/>
              <a:t>Avoidance is pervasive and often seems illogical or perverse (e.g. the child may be unable to eat whilst hungry)</a:t>
            </a:r>
          </a:p>
          <a:p>
            <a:endParaRPr lang="en-GB" dirty="0"/>
          </a:p>
          <a:p>
            <a:r>
              <a:rPr lang="en-GB" dirty="0"/>
              <a:t>Avoidance is not limited to a specific activity (or activities, e.g. school) or activities in a specific context.</a:t>
            </a:r>
          </a:p>
          <a:p>
            <a:endParaRPr lang="en-GB" dirty="0"/>
          </a:p>
        </p:txBody>
      </p:sp>
      <p:sp>
        <p:nvSpPr>
          <p:cNvPr id="2" name="Title 1">
            <a:extLst>
              <a:ext uri="{FF2B5EF4-FFF2-40B4-BE49-F238E27FC236}">
                <a16:creationId xmlns:a16="http://schemas.microsoft.com/office/drawing/2014/main" id="{47295083-783A-4E50-BB7C-7E1743F49DEF}"/>
              </a:ext>
            </a:extLst>
          </p:cNvPr>
          <p:cNvSpPr>
            <a:spLocks noGrp="1"/>
          </p:cNvSpPr>
          <p:nvPr>
            <p:ph type="title"/>
          </p:nvPr>
        </p:nvSpPr>
        <p:spPr/>
        <p:txBody>
          <a:bodyPr/>
          <a:lstStyle/>
          <a:p>
            <a:r>
              <a:rPr lang="en-GB" dirty="0"/>
              <a:t>Our Criteria for PDA</a:t>
            </a:r>
          </a:p>
        </p:txBody>
      </p:sp>
    </p:spTree>
    <p:extLst>
      <p:ext uri="{BB962C8B-B14F-4D97-AF65-F5344CB8AC3E}">
        <p14:creationId xmlns:p14="http://schemas.microsoft.com/office/powerpoint/2010/main" val="2423893687"/>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09C24E-11C2-4CE8-A638-0C560A29482B}"/>
              </a:ext>
            </a:extLst>
          </p:cNvPr>
          <p:cNvSpPr>
            <a:spLocks noGrp="1"/>
          </p:cNvSpPr>
          <p:nvPr>
            <p:ph idx="1"/>
          </p:nvPr>
        </p:nvSpPr>
        <p:spPr/>
        <p:txBody>
          <a:bodyPr/>
          <a:lstStyle/>
          <a:p>
            <a:r>
              <a:rPr lang="en-GB" dirty="0"/>
              <a:t>It is important to point out that all diagnoses (not just ours) are made on the basis of professional judgement, rather than relying upon a specific number of features displayed in any particular checklist or assessment tool.</a:t>
            </a:r>
          </a:p>
          <a:p>
            <a:endParaRPr lang="en-GB" dirty="0"/>
          </a:p>
          <a:p>
            <a:r>
              <a:rPr lang="en-GB" dirty="0"/>
              <a:t>Information is always gathered from a variety of sources and discussed and assimilated before a diagnosis is given</a:t>
            </a:r>
          </a:p>
          <a:p>
            <a:endParaRPr lang="en-GB" dirty="0"/>
          </a:p>
        </p:txBody>
      </p:sp>
      <p:sp>
        <p:nvSpPr>
          <p:cNvPr id="2" name="Title 1">
            <a:extLst>
              <a:ext uri="{FF2B5EF4-FFF2-40B4-BE49-F238E27FC236}">
                <a16:creationId xmlns:a16="http://schemas.microsoft.com/office/drawing/2014/main" id="{5E6342ED-47FA-44C9-925D-734767EE3731}"/>
              </a:ext>
            </a:extLst>
          </p:cNvPr>
          <p:cNvSpPr>
            <a:spLocks noGrp="1"/>
          </p:cNvSpPr>
          <p:nvPr>
            <p:ph type="title"/>
          </p:nvPr>
        </p:nvSpPr>
        <p:spPr/>
        <p:txBody>
          <a:bodyPr/>
          <a:lstStyle/>
          <a:p>
            <a:r>
              <a:rPr lang="en-GB" dirty="0"/>
              <a:t>Our Criteria for PDA</a:t>
            </a:r>
          </a:p>
        </p:txBody>
      </p:sp>
    </p:spTree>
    <p:extLst>
      <p:ext uri="{BB962C8B-B14F-4D97-AF65-F5344CB8AC3E}">
        <p14:creationId xmlns:p14="http://schemas.microsoft.com/office/powerpoint/2010/main" val="1130014848"/>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2B51E3-4739-4922-ABEC-B8FE02D0F845}"/>
              </a:ext>
            </a:extLst>
          </p:cNvPr>
          <p:cNvSpPr>
            <a:spLocks noGrp="1"/>
          </p:cNvSpPr>
          <p:nvPr>
            <p:ph idx="1"/>
          </p:nvPr>
        </p:nvSpPr>
        <p:spPr/>
        <p:txBody>
          <a:bodyPr>
            <a:normAutofit fontScale="92500" lnSpcReduction="20000"/>
          </a:bodyPr>
          <a:lstStyle/>
          <a:p>
            <a:r>
              <a:rPr lang="en-GB" dirty="0"/>
              <a:t>A variety of statistical tests were carried out on our data.  These are outlined in full in our write up of this study.</a:t>
            </a:r>
          </a:p>
          <a:p>
            <a:r>
              <a:rPr lang="en-GB" dirty="0"/>
              <a:t>There were significant differences between the scores obtained in the ADOS assessment for the ASD group compared to the ASD/PDA group</a:t>
            </a:r>
          </a:p>
          <a:p>
            <a:r>
              <a:rPr lang="en-GB" dirty="0"/>
              <a:t>Both groups scored above the ‘cut-off’ score which supports a diagnosis of Autism (we consistently achieve good inter-rater reliability between different examiners)</a:t>
            </a:r>
          </a:p>
          <a:p>
            <a:r>
              <a:rPr lang="en-GB" dirty="0"/>
              <a:t>The differences reflect qualitative differences in the way the child or young person interacted with the examiner</a:t>
            </a:r>
          </a:p>
          <a:p>
            <a:r>
              <a:rPr lang="en-GB" dirty="0"/>
              <a:t>Certain descriptions of behaviour within the ADOS assessment were able to predict the likelihood of a child receiving a diagnosis of ASD/PDA</a:t>
            </a:r>
          </a:p>
        </p:txBody>
      </p:sp>
      <p:sp>
        <p:nvSpPr>
          <p:cNvPr id="2" name="Title 1">
            <a:extLst>
              <a:ext uri="{FF2B5EF4-FFF2-40B4-BE49-F238E27FC236}">
                <a16:creationId xmlns:a16="http://schemas.microsoft.com/office/drawing/2014/main" id="{52596331-64BC-4B36-80E3-E10CDB78BE8D}"/>
              </a:ext>
            </a:extLst>
          </p:cNvPr>
          <p:cNvSpPr>
            <a:spLocks noGrp="1"/>
          </p:cNvSpPr>
          <p:nvPr>
            <p:ph type="title"/>
          </p:nvPr>
        </p:nvSpPr>
        <p:spPr/>
        <p:txBody>
          <a:bodyPr/>
          <a:lstStyle/>
          <a:p>
            <a:r>
              <a:rPr lang="en-GB" dirty="0"/>
              <a:t>Analysis</a:t>
            </a:r>
          </a:p>
        </p:txBody>
      </p:sp>
    </p:spTree>
    <p:extLst>
      <p:ext uri="{BB962C8B-B14F-4D97-AF65-F5344CB8AC3E}">
        <p14:creationId xmlns:p14="http://schemas.microsoft.com/office/powerpoint/2010/main" val="1590456841"/>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44AC26-BEC2-47A6-967C-1544C7256709}"/>
              </a:ext>
            </a:extLst>
          </p:cNvPr>
          <p:cNvSpPr>
            <a:spLocks noGrp="1"/>
          </p:cNvSpPr>
          <p:nvPr>
            <p:ph idx="1"/>
          </p:nvPr>
        </p:nvSpPr>
        <p:spPr/>
        <p:txBody>
          <a:bodyPr/>
          <a:lstStyle/>
          <a:p>
            <a:r>
              <a:rPr lang="en-GB" dirty="0"/>
              <a:t>The way in which the children interacted with the examiner during the ADOS differed.</a:t>
            </a:r>
          </a:p>
          <a:p>
            <a:r>
              <a:rPr lang="en-GB" dirty="0"/>
              <a:t>Most of the ASD/PDA group started the assessment with a degree of superficial sociability but as the assessment progressed they became less motivated to engage</a:t>
            </a:r>
          </a:p>
          <a:p>
            <a:r>
              <a:rPr lang="en-GB" dirty="0"/>
              <a:t>They employed a variety of strategies in order to avoid completing the ADOS as requested</a:t>
            </a:r>
          </a:p>
        </p:txBody>
      </p:sp>
      <p:sp>
        <p:nvSpPr>
          <p:cNvPr id="2" name="Title 1">
            <a:extLst>
              <a:ext uri="{FF2B5EF4-FFF2-40B4-BE49-F238E27FC236}">
                <a16:creationId xmlns:a16="http://schemas.microsoft.com/office/drawing/2014/main" id="{1B4DE994-7D3F-431F-8E6D-9EF097A1D8E5}"/>
              </a:ext>
            </a:extLst>
          </p:cNvPr>
          <p:cNvSpPr>
            <a:spLocks noGrp="1"/>
          </p:cNvSpPr>
          <p:nvPr>
            <p:ph type="title"/>
          </p:nvPr>
        </p:nvSpPr>
        <p:spPr/>
        <p:txBody>
          <a:bodyPr/>
          <a:lstStyle/>
          <a:p>
            <a:r>
              <a:rPr lang="en-GB" dirty="0"/>
              <a:t>Findings</a:t>
            </a:r>
          </a:p>
        </p:txBody>
      </p:sp>
    </p:spTree>
    <p:extLst>
      <p:ext uri="{BB962C8B-B14F-4D97-AF65-F5344CB8AC3E}">
        <p14:creationId xmlns:p14="http://schemas.microsoft.com/office/powerpoint/2010/main" val="1092695402"/>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09B7A5-2867-4818-A7F3-AB408F001703}"/>
              </a:ext>
            </a:extLst>
          </p:cNvPr>
          <p:cNvSpPr>
            <a:spLocks noGrp="1"/>
          </p:cNvSpPr>
          <p:nvPr>
            <p:ph idx="1"/>
          </p:nvPr>
        </p:nvSpPr>
        <p:spPr/>
        <p:txBody>
          <a:bodyPr>
            <a:normAutofit lnSpcReduction="10000"/>
          </a:bodyPr>
          <a:lstStyle/>
          <a:p>
            <a:pPr marL="0" indent="0">
              <a:buNone/>
            </a:pPr>
            <a:r>
              <a:rPr lang="en-GB" dirty="0"/>
              <a:t>These strategies included (no prizes for guessing </a:t>
            </a:r>
            <a:r>
              <a:rPr lang="en-GB" dirty="0">
                <a:sym typeface="Wingdings" panose="05000000000000000000" pitchFamily="2" charset="2"/>
              </a:rPr>
              <a:t>)</a:t>
            </a:r>
          </a:p>
          <a:p>
            <a:r>
              <a:rPr lang="en-GB" dirty="0">
                <a:sym typeface="Wingdings" panose="05000000000000000000" pitchFamily="2" charset="2"/>
              </a:rPr>
              <a:t>Ignoring the examiner</a:t>
            </a:r>
          </a:p>
          <a:p>
            <a:r>
              <a:rPr lang="en-GB" dirty="0">
                <a:sym typeface="Wingdings" panose="05000000000000000000" pitchFamily="2" charset="2"/>
              </a:rPr>
              <a:t>Attempting to distract (with sometimes intentionally shocking behaviour)</a:t>
            </a:r>
          </a:p>
          <a:p>
            <a:r>
              <a:rPr lang="en-GB" dirty="0">
                <a:sym typeface="Wingdings" panose="05000000000000000000" pitchFamily="2" charset="2"/>
              </a:rPr>
              <a:t>Refusing to participate</a:t>
            </a:r>
          </a:p>
          <a:p>
            <a:r>
              <a:rPr lang="en-GB" dirty="0">
                <a:sym typeface="Wingdings" panose="05000000000000000000" pitchFamily="2" charset="2"/>
              </a:rPr>
              <a:t>Making it difficult for the examiner to access the assessment materials</a:t>
            </a:r>
          </a:p>
          <a:p>
            <a:r>
              <a:rPr lang="en-GB" dirty="0">
                <a:sym typeface="Wingdings" panose="05000000000000000000" pitchFamily="2" charset="2"/>
              </a:rPr>
              <a:t>Leaving the room</a:t>
            </a:r>
          </a:p>
          <a:p>
            <a:r>
              <a:rPr lang="en-GB" dirty="0">
                <a:sym typeface="Wingdings" panose="05000000000000000000" pitchFamily="2" charset="2"/>
              </a:rPr>
              <a:t>In some cases ‘freezing’ or becoming very dysregulated</a:t>
            </a:r>
            <a:endParaRPr lang="en-GB" dirty="0"/>
          </a:p>
        </p:txBody>
      </p:sp>
      <p:sp>
        <p:nvSpPr>
          <p:cNvPr id="2" name="Title 1">
            <a:extLst>
              <a:ext uri="{FF2B5EF4-FFF2-40B4-BE49-F238E27FC236}">
                <a16:creationId xmlns:a16="http://schemas.microsoft.com/office/drawing/2014/main" id="{314996A3-1120-49BC-A1C9-8D41D3CD3CC8}"/>
              </a:ext>
            </a:extLst>
          </p:cNvPr>
          <p:cNvSpPr>
            <a:spLocks noGrp="1"/>
          </p:cNvSpPr>
          <p:nvPr>
            <p:ph type="title"/>
          </p:nvPr>
        </p:nvSpPr>
        <p:spPr/>
        <p:txBody>
          <a:bodyPr/>
          <a:lstStyle/>
          <a:p>
            <a:r>
              <a:rPr lang="en-GB" dirty="0"/>
              <a:t>Findings</a:t>
            </a:r>
          </a:p>
        </p:txBody>
      </p:sp>
    </p:spTree>
    <p:extLst>
      <p:ext uri="{BB962C8B-B14F-4D97-AF65-F5344CB8AC3E}">
        <p14:creationId xmlns:p14="http://schemas.microsoft.com/office/powerpoint/2010/main" val="1677261496"/>
      </p:ext>
    </p:ext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3D6A75-5494-4CAF-8BF2-A06D75FB50F3}"/>
              </a:ext>
            </a:extLst>
          </p:cNvPr>
          <p:cNvSpPr>
            <a:spLocks noGrp="1"/>
          </p:cNvSpPr>
          <p:nvPr>
            <p:ph idx="1"/>
          </p:nvPr>
        </p:nvSpPr>
        <p:spPr/>
        <p:txBody>
          <a:bodyPr>
            <a:normAutofit fontScale="92500" lnSpcReduction="10000"/>
          </a:bodyPr>
          <a:lstStyle/>
          <a:p>
            <a:r>
              <a:rPr lang="en-GB" dirty="0"/>
              <a:t>Our second study involved detailed analysis of a sample of developmental histories taken as part of our assessments</a:t>
            </a:r>
          </a:p>
          <a:p>
            <a:r>
              <a:rPr lang="en-GB" dirty="0"/>
              <a:t>In this study we were looking at differences in the presentation of three groups:</a:t>
            </a:r>
          </a:p>
          <a:p>
            <a:endParaRPr lang="en-GB" dirty="0"/>
          </a:p>
          <a:p>
            <a:pPr lvl="1"/>
            <a:r>
              <a:rPr lang="en-GB" dirty="0"/>
              <a:t>ASD</a:t>
            </a:r>
          </a:p>
          <a:p>
            <a:pPr lvl="1"/>
            <a:r>
              <a:rPr lang="en-GB" dirty="0"/>
              <a:t>ASD/PDA</a:t>
            </a:r>
          </a:p>
          <a:p>
            <a:pPr lvl="1"/>
            <a:r>
              <a:rPr lang="en-GB" dirty="0"/>
              <a:t>Not-ASD</a:t>
            </a:r>
          </a:p>
          <a:p>
            <a:pPr lvl="1"/>
            <a:endParaRPr lang="en-GB" dirty="0"/>
          </a:p>
          <a:p>
            <a:pPr lvl="1"/>
            <a:r>
              <a:rPr lang="en-GB" dirty="0"/>
              <a:t>Diagnostic decisions were made based upon the same assessment materials and criteria as outlined in Study One</a:t>
            </a:r>
          </a:p>
        </p:txBody>
      </p:sp>
      <p:sp>
        <p:nvSpPr>
          <p:cNvPr id="2" name="Title 1">
            <a:extLst>
              <a:ext uri="{FF2B5EF4-FFF2-40B4-BE49-F238E27FC236}">
                <a16:creationId xmlns:a16="http://schemas.microsoft.com/office/drawing/2014/main" id="{7142A6BA-9C17-4CFA-8551-5C2BAB43D288}"/>
              </a:ext>
            </a:extLst>
          </p:cNvPr>
          <p:cNvSpPr>
            <a:spLocks noGrp="1"/>
          </p:cNvSpPr>
          <p:nvPr>
            <p:ph type="title"/>
          </p:nvPr>
        </p:nvSpPr>
        <p:spPr/>
        <p:txBody>
          <a:bodyPr/>
          <a:lstStyle/>
          <a:p>
            <a:r>
              <a:rPr lang="en-GB" dirty="0"/>
              <a:t>Study Two</a:t>
            </a:r>
          </a:p>
        </p:txBody>
      </p:sp>
    </p:spTree>
    <p:extLst>
      <p:ext uri="{BB962C8B-B14F-4D97-AF65-F5344CB8AC3E}">
        <p14:creationId xmlns:p14="http://schemas.microsoft.com/office/powerpoint/2010/main" val="2692990298"/>
      </p:ext>
    </p:ext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7E8359-BE0F-4D66-9308-9F2DBE2E72BF}"/>
              </a:ext>
            </a:extLst>
          </p:cNvPr>
          <p:cNvSpPr>
            <a:spLocks noGrp="1"/>
          </p:cNvSpPr>
          <p:nvPr>
            <p:ph idx="1"/>
          </p:nvPr>
        </p:nvSpPr>
        <p:spPr/>
        <p:txBody>
          <a:bodyPr>
            <a:normAutofit fontScale="92500" lnSpcReduction="20000"/>
          </a:bodyPr>
          <a:lstStyle/>
          <a:p>
            <a:r>
              <a:rPr lang="en-GB" dirty="0"/>
              <a:t>161 developmental histories were analysed.  Two </a:t>
            </a:r>
            <a:r>
              <a:rPr lang="en-GB" dirty="0" err="1"/>
              <a:t>raters</a:t>
            </a:r>
            <a:r>
              <a:rPr lang="en-GB" dirty="0"/>
              <a:t> independently checked a sample of these and achieved a high level of inter-rater agreement</a:t>
            </a:r>
          </a:p>
          <a:p>
            <a:r>
              <a:rPr lang="en-GB" dirty="0"/>
              <a:t>They ranged from 5 – 17 years of age</a:t>
            </a:r>
          </a:p>
          <a:p>
            <a:r>
              <a:rPr lang="en-GB" dirty="0"/>
              <a:t>92 boys</a:t>
            </a:r>
          </a:p>
          <a:p>
            <a:r>
              <a:rPr lang="en-GB" dirty="0"/>
              <a:t>69 girls</a:t>
            </a:r>
          </a:p>
          <a:p>
            <a:r>
              <a:rPr lang="en-GB" dirty="0"/>
              <a:t>ASD – 53</a:t>
            </a:r>
          </a:p>
          <a:p>
            <a:r>
              <a:rPr lang="en-GB" dirty="0"/>
              <a:t>ASD/PDA – 63</a:t>
            </a:r>
          </a:p>
          <a:p>
            <a:r>
              <a:rPr lang="en-GB" dirty="0"/>
              <a:t>Not ASD* - 45</a:t>
            </a:r>
          </a:p>
          <a:p>
            <a:pPr marL="0" indent="0">
              <a:buNone/>
            </a:pPr>
            <a:r>
              <a:rPr lang="en-GB" dirty="0"/>
              <a:t>* All of the ‘Not ASD’ group were adopted children with a history of early trauma/attachment difficulties</a:t>
            </a:r>
          </a:p>
          <a:p>
            <a:endParaRPr lang="en-GB" dirty="0"/>
          </a:p>
          <a:p>
            <a:endParaRPr lang="en-GB" dirty="0"/>
          </a:p>
          <a:p>
            <a:endParaRPr lang="en-GB" dirty="0"/>
          </a:p>
          <a:p>
            <a:pPr marL="0" indent="0">
              <a:buNone/>
            </a:pPr>
            <a:endParaRPr lang="en-GB" dirty="0"/>
          </a:p>
          <a:p>
            <a:endParaRPr lang="en-GB" dirty="0"/>
          </a:p>
          <a:p>
            <a:endParaRPr lang="en-GB" dirty="0"/>
          </a:p>
          <a:p>
            <a:endParaRPr lang="en-GB" dirty="0"/>
          </a:p>
          <a:p>
            <a:pPr marL="0" indent="0">
              <a:buNone/>
            </a:pPr>
            <a:endParaRPr lang="en-GB" dirty="0"/>
          </a:p>
        </p:txBody>
      </p:sp>
      <p:sp>
        <p:nvSpPr>
          <p:cNvPr id="2" name="Title 1">
            <a:extLst>
              <a:ext uri="{FF2B5EF4-FFF2-40B4-BE49-F238E27FC236}">
                <a16:creationId xmlns:a16="http://schemas.microsoft.com/office/drawing/2014/main" id="{921E0184-D558-418D-ACFF-8502827050F1}"/>
              </a:ext>
            </a:extLst>
          </p:cNvPr>
          <p:cNvSpPr>
            <a:spLocks noGrp="1"/>
          </p:cNvSpPr>
          <p:nvPr>
            <p:ph type="title"/>
          </p:nvPr>
        </p:nvSpPr>
        <p:spPr/>
        <p:txBody>
          <a:bodyPr/>
          <a:lstStyle/>
          <a:p>
            <a:r>
              <a:rPr lang="en-GB" dirty="0"/>
              <a:t>Participants</a:t>
            </a:r>
          </a:p>
        </p:txBody>
      </p:sp>
    </p:spTree>
    <p:extLst>
      <p:ext uri="{BB962C8B-B14F-4D97-AF65-F5344CB8AC3E}">
        <p14:creationId xmlns:p14="http://schemas.microsoft.com/office/powerpoint/2010/main" val="1726800977"/>
      </p:ext>
    </p:extLst>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519902-DB9C-4BE0-83FE-3764BF846BCE}"/>
              </a:ext>
            </a:extLst>
          </p:cNvPr>
          <p:cNvSpPr>
            <a:spLocks noGrp="1"/>
          </p:cNvSpPr>
          <p:nvPr>
            <p:ph idx="1"/>
          </p:nvPr>
        </p:nvSpPr>
        <p:spPr/>
        <p:txBody>
          <a:bodyPr/>
          <a:lstStyle/>
          <a:p>
            <a:r>
              <a:rPr lang="en-GB" dirty="0"/>
              <a:t>Our developmental histories are written in a narrative format.  We invite parents to ‘tell us about’ their child at certain ages and developmental stages.  </a:t>
            </a:r>
          </a:p>
          <a:p>
            <a:r>
              <a:rPr lang="en-GB" dirty="0"/>
              <a:t>Following assessment, these developmental histories were analysed using a particular qualitative technique which generated ‘themes’</a:t>
            </a:r>
          </a:p>
          <a:p>
            <a:r>
              <a:rPr lang="en-GB" dirty="0"/>
              <a:t>All of these ‘themes’ were spontaneously offered by the parents/caregivers and were not in response to particular questions</a:t>
            </a:r>
          </a:p>
          <a:p>
            <a:r>
              <a:rPr lang="en-GB" dirty="0"/>
              <a:t>These ‘themes’ were then statistically analysed by group.</a:t>
            </a:r>
          </a:p>
        </p:txBody>
      </p:sp>
      <p:sp>
        <p:nvSpPr>
          <p:cNvPr id="2" name="Title 1">
            <a:extLst>
              <a:ext uri="{FF2B5EF4-FFF2-40B4-BE49-F238E27FC236}">
                <a16:creationId xmlns:a16="http://schemas.microsoft.com/office/drawing/2014/main" id="{07D5C46B-B4E2-4DFA-84F2-F764852F768E}"/>
              </a:ext>
            </a:extLst>
          </p:cNvPr>
          <p:cNvSpPr>
            <a:spLocks noGrp="1"/>
          </p:cNvSpPr>
          <p:nvPr>
            <p:ph type="title"/>
          </p:nvPr>
        </p:nvSpPr>
        <p:spPr/>
        <p:txBody>
          <a:bodyPr/>
          <a:lstStyle/>
          <a:p>
            <a:r>
              <a:rPr lang="en-GB" dirty="0"/>
              <a:t>Analysis</a:t>
            </a:r>
          </a:p>
        </p:txBody>
      </p:sp>
    </p:spTree>
    <p:extLst>
      <p:ext uri="{BB962C8B-B14F-4D97-AF65-F5344CB8AC3E}">
        <p14:creationId xmlns:p14="http://schemas.microsoft.com/office/powerpoint/2010/main" val="2604042796"/>
      </p:ext>
    </p:extLst>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4DB162-4ADE-4A85-92AC-9FC81E505514}"/>
              </a:ext>
            </a:extLst>
          </p:cNvPr>
          <p:cNvSpPr>
            <a:spLocks noGrp="1"/>
          </p:cNvSpPr>
          <p:nvPr>
            <p:ph idx="1"/>
          </p:nvPr>
        </p:nvSpPr>
        <p:spPr/>
        <p:txBody>
          <a:bodyPr/>
          <a:lstStyle/>
          <a:p>
            <a:r>
              <a:rPr lang="en-GB" dirty="0"/>
              <a:t>A number of ‘themes’ were found significantly more frequently in the </a:t>
            </a:r>
            <a:r>
              <a:rPr lang="en-GB" b="1" dirty="0"/>
              <a:t>ASD/PDA group </a:t>
            </a:r>
            <a:r>
              <a:rPr lang="en-GB" dirty="0"/>
              <a:t>compared to the </a:t>
            </a:r>
            <a:r>
              <a:rPr lang="en-GB" b="1" dirty="0"/>
              <a:t>ASD group</a:t>
            </a:r>
          </a:p>
          <a:p>
            <a:pPr marL="0" indent="0">
              <a:buNone/>
            </a:pPr>
            <a:endParaRPr lang="en-GB" b="1" dirty="0"/>
          </a:p>
          <a:p>
            <a:r>
              <a:rPr lang="en-GB" dirty="0"/>
              <a:t>There were also a number of themes that were reported significantly less frequently in the </a:t>
            </a:r>
            <a:r>
              <a:rPr lang="en-GB" b="1" dirty="0"/>
              <a:t>Non-ASD group </a:t>
            </a:r>
            <a:r>
              <a:rPr lang="en-GB" dirty="0"/>
              <a:t>compared to the </a:t>
            </a:r>
            <a:r>
              <a:rPr lang="en-GB" b="1" dirty="0"/>
              <a:t>ASD/PDA group</a:t>
            </a:r>
          </a:p>
          <a:p>
            <a:endParaRPr lang="en-GB" b="1" dirty="0"/>
          </a:p>
        </p:txBody>
      </p:sp>
      <p:sp>
        <p:nvSpPr>
          <p:cNvPr id="2" name="Title 1">
            <a:extLst>
              <a:ext uri="{FF2B5EF4-FFF2-40B4-BE49-F238E27FC236}">
                <a16:creationId xmlns:a16="http://schemas.microsoft.com/office/drawing/2014/main" id="{449C3545-492D-4F74-BE0C-9E092BE44CC2}"/>
              </a:ext>
            </a:extLst>
          </p:cNvPr>
          <p:cNvSpPr>
            <a:spLocks noGrp="1"/>
          </p:cNvSpPr>
          <p:nvPr>
            <p:ph type="title"/>
          </p:nvPr>
        </p:nvSpPr>
        <p:spPr/>
        <p:txBody>
          <a:bodyPr/>
          <a:lstStyle/>
          <a:p>
            <a:r>
              <a:rPr lang="en-GB" dirty="0"/>
              <a:t>Findings</a:t>
            </a:r>
          </a:p>
        </p:txBody>
      </p:sp>
    </p:spTree>
    <p:extLst>
      <p:ext uri="{BB962C8B-B14F-4D97-AF65-F5344CB8AC3E}">
        <p14:creationId xmlns:p14="http://schemas.microsoft.com/office/powerpoint/2010/main" val="3369990513"/>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571970-B54A-437A-B044-F7E6E6881368}"/>
              </a:ext>
            </a:extLst>
          </p:cNvPr>
          <p:cNvSpPr>
            <a:spLocks noGrp="1"/>
          </p:cNvSpPr>
          <p:nvPr>
            <p:ph idx="1"/>
          </p:nvPr>
        </p:nvSpPr>
        <p:spPr/>
        <p:txBody>
          <a:bodyPr>
            <a:normAutofit lnSpcReduction="10000"/>
          </a:bodyPr>
          <a:lstStyle/>
          <a:p>
            <a:r>
              <a:rPr lang="en-GB" dirty="0"/>
              <a:t>Although we recognise the limitations of our studies, our participants were all seen by the same team, in the same location, using the same assessment process</a:t>
            </a:r>
          </a:p>
          <a:p>
            <a:r>
              <a:rPr lang="en-GB" dirty="0"/>
              <a:t>All of the children who were identified as having the PDA profile met criteria for Autism first</a:t>
            </a:r>
          </a:p>
          <a:p>
            <a:r>
              <a:rPr lang="en-GB" dirty="0"/>
              <a:t>There were significant differences in the way the children with ASD/PDA interacted with the examiners</a:t>
            </a:r>
          </a:p>
          <a:p>
            <a:r>
              <a:rPr lang="en-GB" dirty="0"/>
              <a:t>There were significant differences between the behaviour reported for the  ASD/PDA children compared to both the ASD and Non-ASD children</a:t>
            </a:r>
          </a:p>
          <a:p>
            <a:endParaRPr lang="en-GB" dirty="0"/>
          </a:p>
        </p:txBody>
      </p:sp>
      <p:sp>
        <p:nvSpPr>
          <p:cNvPr id="2" name="Title 1">
            <a:extLst>
              <a:ext uri="{FF2B5EF4-FFF2-40B4-BE49-F238E27FC236}">
                <a16:creationId xmlns:a16="http://schemas.microsoft.com/office/drawing/2014/main" id="{02843DA3-837B-448A-9332-1F6903CC8541}"/>
              </a:ext>
            </a:extLst>
          </p:cNvPr>
          <p:cNvSpPr>
            <a:spLocks noGrp="1"/>
          </p:cNvSpPr>
          <p:nvPr>
            <p:ph type="title"/>
          </p:nvPr>
        </p:nvSpPr>
        <p:spPr/>
        <p:txBody>
          <a:bodyPr/>
          <a:lstStyle/>
          <a:p>
            <a:r>
              <a:rPr lang="en-GB" dirty="0"/>
              <a:t>Conclusions</a:t>
            </a:r>
          </a:p>
        </p:txBody>
      </p:sp>
    </p:spTree>
    <p:extLst>
      <p:ext uri="{BB962C8B-B14F-4D97-AF65-F5344CB8AC3E}">
        <p14:creationId xmlns:p14="http://schemas.microsoft.com/office/powerpoint/2010/main" val="2725327954"/>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DCDE05-3704-4BC8-B076-595D4DF4077E}"/>
              </a:ext>
            </a:extLst>
          </p:cNvPr>
          <p:cNvSpPr>
            <a:spLocks noGrp="1"/>
          </p:cNvSpPr>
          <p:nvPr>
            <p:ph idx="1"/>
          </p:nvPr>
        </p:nvSpPr>
        <p:spPr/>
        <p:txBody>
          <a:bodyPr>
            <a:normAutofit/>
          </a:bodyPr>
          <a:lstStyle/>
          <a:p>
            <a:r>
              <a:rPr lang="en-GB" dirty="0"/>
              <a:t>We hope that this preliminary study can be seen as a starting point to further explore the PDA-ness of the PDA profile, what it is, what it is not and what it might be</a:t>
            </a:r>
          </a:p>
          <a:p>
            <a:r>
              <a:rPr lang="en-GB" dirty="0"/>
              <a:t>Since the data analysis started and the original 351 children were seen, we have assessed at least a further 200 children and we continue to observe the same patterns of behaviour and gather the same developmental histories.  These children come to us from all over the world, sometimes their parents have not even heard of PDA</a:t>
            </a:r>
          </a:p>
          <a:p>
            <a:pPr marL="0" indent="0">
              <a:buNone/>
            </a:pPr>
            <a:endParaRPr lang="en-GB" dirty="0"/>
          </a:p>
          <a:p>
            <a:endParaRPr lang="en-GB" dirty="0"/>
          </a:p>
          <a:p>
            <a:pPr marL="0" indent="0">
              <a:buNone/>
            </a:pPr>
            <a:endParaRPr lang="en-GB" dirty="0"/>
          </a:p>
        </p:txBody>
      </p:sp>
      <p:sp>
        <p:nvSpPr>
          <p:cNvPr id="2" name="Title 1">
            <a:extLst>
              <a:ext uri="{FF2B5EF4-FFF2-40B4-BE49-F238E27FC236}">
                <a16:creationId xmlns:a16="http://schemas.microsoft.com/office/drawing/2014/main" id="{A5B4DA3E-A2BC-47F3-9F21-DB51986555EB}"/>
              </a:ext>
            </a:extLst>
          </p:cNvPr>
          <p:cNvSpPr>
            <a:spLocks noGrp="1"/>
          </p:cNvSpPr>
          <p:nvPr>
            <p:ph type="title"/>
          </p:nvPr>
        </p:nvSpPr>
        <p:spPr/>
        <p:txBody>
          <a:bodyPr/>
          <a:lstStyle/>
          <a:p>
            <a:r>
              <a:rPr lang="en-GB" dirty="0"/>
              <a:t>Conclusions</a:t>
            </a:r>
          </a:p>
        </p:txBody>
      </p:sp>
    </p:spTree>
    <p:extLst>
      <p:ext uri="{BB962C8B-B14F-4D97-AF65-F5344CB8AC3E}">
        <p14:creationId xmlns:p14="http://schemas.microsoft.com/office/powerpoint/2010/main" val="2993105920"/>
      </p:ext>
    </p:extLst>
  </p:cSld>
  <p:clrMapOvr>
    <a:masterClrMapping/>
  </p:clrMapOvr>
  <p:transition spd="slow">
    <p:wipe dir="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H4P Slide theme">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H4P Slide theme</Template>
  <TotalTime>0</TotalTime>
  <Words>1573</Words>
  <Application>Microsoft Office PowerPoint</Application>
  <PresentationFormat>Widescreen</PresentationFormat>
  <Paragraphs>140</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Candara</vt:lpstr>
      <vt:lpstr>Symbol</vt:lpstr>
      <vt:lpstr>Wingdings</vt:lpstr>
      <vt:lpstr>H4P Slide theme</vt:lpstr>
      <vt:lpstr>Further exploring the PDA profile – evidence from clinical cases</vt:lpstr>
      <vt:lpstr>Background</vt:lpstr>
      <vt:lpstr>Background</vt:lpstr>
      <vt:lpstr>Background</vt:lpstr>
      <vt:lpstr>Background</vt:lpstr>
      <vt:lpstr>Background</vt:lpstr>
      <vt:lpstr>Details of our sample</vt:lpstr>
      <vt:lpstr>Assessment tools used</vt:lpstr>
      <vt:lpstr>Analysis of data</vt:lpstr>
      <vt:lpstr>Study One</vt:lpstr>
      <vt:lpstr>Participants</vt:lpstr>
      <vt:lpstr>Participants</vt:lpstr>
      <vt:lpstr>Our Criteria for PDA</vt:lpstr>
      <vt:lpstr>Our Criteria for PDA</vt:lpstr>
      <vt:lpstr>Our Criteria for PDA</vt:lpstr>
      <vt:lpstr>Analysis</vt:lpstr>
      <vt:lpstr>Findings</vt:lpstr>
      <vt:lpstr>Findings</vt:lpstr>
      <vt:lpstr>Study Two</vt:lpstr>
      <vt:lpstr>Participants</vt:lpstr>
      <vt:lpstr>Analysis</vt:lpstr>
      <vt:lpstr>Findings</vt:lpstr>
      <vt:lpstr>Conclusions</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Further exploring the PDA profile – evidence from clinical cases</dc:title>
  <dc:creator>Judy Eaton</dc:creator>
  <cp:lastModifiedBy>Janet Matthews</cp:lastModifiedBy>
  <cp:revision>17</cp:revision>
  <dcterms:created xsi:type="dcterms:W3CDTF">2019-10-30T15:53:18Z</dcterms:created>
  <dcterms:modified xsi:type="dcterms:W3CDTF">2019-11-14T08:18:59Z</dcterms:modified>
</cp:coreProperties>
</file>