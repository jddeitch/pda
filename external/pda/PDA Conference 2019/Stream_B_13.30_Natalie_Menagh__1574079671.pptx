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1"/>
  </p:normalViewPr>
  <p:slideViewPr>
    <p:cSldViewPr snapToGrid="0" snapToObjects="1">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C84A669A-AD03-394C-A800-88ACC90C6C5D}" type="datetimeFigureOut">
              <a:rPr lang="en-US" smtClean="0"/>
              <a:t>11/14/2019</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2907568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4A669A-AD03-394C-A800-88ACC90C6C5D}" type="datetimeFigureOut">
              <a:rPr lang="en-US" smtClean="0"/>
              <a:t>11/14/2019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2197940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04672" y="320040"/>
            <a:ext cx="3657600" cy="320040"/>
          </a:xfrm>
        </p:spPr>
        <p:txBody>
          <a:bodyPr/>
          <a:lstStyle/>
          <a:p>
            <a:fld id="{C84A669A-AD03-394C-A800-88ACC90C6C5D}" type="datetimeFigureOut">
              <a:rPr lang="en-US" smtClean="0"/>
              <a:t>11/14/2019</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194117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C84A669A-AD03-394C-A800-88ACC90C6C5D}" type="datetimeFigureOut">
              <a:rPr lang="en-US" smtClean="0"/>
              <a:t>11/14/2019</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52674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C84A669A-AD03-394C-A800-88ACC90C6C5D}" type="datetimeFigureOut">
              <a:rPr lang="en-US" smtClean="0"/>
              <a:t>11/14/2019</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272844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4A669A-AD03-394C-A800-88ACC90C6C5D}" type="datetimeFigureOut">
              <a:rPr lang="en-US" smtClean="0"/>
              <a:t>11/14/2019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1745533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C84A669A-AD03-394C-A800-88ACC90C6C5D}" type="datetimeFigureOut">
              <a:rPr lang="en-US" smtClean="0"/>
              <a:t>11/14/2019</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3764724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4A669A-AD03-394C-A800-88ACC90C6C5D}" type="datetimeFigureOut">
              <a:rPr lang="en-US" smtClean="0"/>
              <a:t>11/14/2019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3869800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04672" y="320040"/>
            <a:ext cx="3657600" cy="320040"/>
          </a:xfrm>
        </p:spPr>
        <p:txBody>
          <a:bodyPr/>
          <a:lstStyle/>
          <a:p>
            <a:fld id="{C84A669A-AD03-394C-A800-88ACC90C6C5D}" type="datetimeFigureOut">
              <a:rPr lang="en-US" smtClean="0"/>
              <a:t>11/14/2019</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1365826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4A669A-AD03-394C-A800-88ACC90C6C5D}" type="datetimeFigureOut">
              <a:rPr lang="en-US" smtClean="0"/>
              <a:t>11/14/2019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3948676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C84A669A-AD03-394C-A800-88ACC90C6C5D}" type="datetimeFigureOut">
              <a:rPr lang="en-US" smtClean="0"/>
              <a:t>11/14/2019</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2D5919B-145B-FE4B-8163-0B76599BADAC}" type="slidenum">
              <a:rPr lang="en-US" smtClean="0"/>
              <a:t>‹#›</a:t>
            </a:fld>
            <a:endParaRPr lang="en-US"/>
          </a:p>
        </p:txBody>
      </p:sp>
    </p:spTree>
    <p:extLst>
      <p:ext uri="{BB962C8B-B14F-4D97-AF65-F5344CB8AC3E}">
        <p14:creationId xmlns:p14="http://schemas.microsoft.com/office/powerpoint/2010/main" val="1966998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C84A669A-AD03-394C-A800-88ACC90C6C5D}" type="datetimeFigureOut">
              <a:rPr lang="en-US" smtClean="0"/>
              <a:t>11/14/2019</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2D5919B-145B-FE4B-8163-0B76599BADAC}" type="slidenum">
              <a:rPr lang="en-US" smtClean="0"/>
              <a:t>‹#›</a:t>
            </a:fld>
            <a:endParaRPr lang="en-US"/>
          </a:p>
        </p:txBody>
      </p:sp>
    </p:spTree>
    <p:extLst>
      <p:ext uri="{BB962C8B-B14F-4D97-AF65-F5344CB8AC3E}">
        <p14:creationId xmlns:p14="http://schemas.microsoft.com/office/powerpoint/2010/main" val="39357357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mailto:nataliemenagh@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47210-736C-C347-B517-235944B051B6}"/>
              </a:ext>
            </a:extLst>
          </p:cNvPr>
          <p:cNvSpPr>
            <a:spLocks noGrp="1"/>
          </p:cNvSpPr>
          <p:nvPr>
            <p:ph type="ctrTitle"/>
          </p:nvPr>
        </p:nvSpPr>
        <p:spPr/>
        <p:txBody>
          <a:bodyPr/>
          <a:lstStyle/>
          <a:p>
            <a:r>
              <a:rPr lang="en-US" dirty="0"/>
              <a:t>PDA School Provision Challenges and Strategies</a:t>
            </a:r>
          </a:p>
        </p:txBody>
      </p:sp>
      <p:sp>
        <p:nvSpPr>
          <p:cNvPr id="3" name="Subtitle 2">
            <a:extLst>
              <a:ext uri="{FF2B5EF4-FFF2-40B4-BE49-F238E27FC236}">
                <a16:creationId xmlns:a16="http://schemas.microsoft.com/office/drawing/2014/main" id="{65076C66-930C-684B-9AA4-16FC940FFE51}"/>
              </a:ext>
            </a:extLst>
          </p:cNvPr>
          <p:cNvSpPr>
            <a:spLocks noGrp="1"/>
          </p:cNvSpPr>
          <p:nvPr>
            <p:ph type="subTitle" idx="1"/>
          </p:nvPr>
        </p:nvSpPr>
        <p:spPr/>
        <p:txBody>
          <a:bodyPr/>
          <a:lstStyle/>
          <a:p>
            <a:endParaRPr lang="en-US" dirty="0"/>
          </a:p>
          <a:p>
            <a:r>
              <a:rPr lang="en-US" dirty="0"/>
              <a:t>Natalie </a:t>
            </a:r>
            <a:r>
              <a:rPr lang="en-US" dirty="0" err="1"/>
              <a:t>Menagh</a:t>
            </a:r>
            <a:endParaRPr lang="en-US" dirty="0"/>
          </a:p>
          <a:p>
            <a:r>
              <a:rPr lang="en-US" dirty="0"/>
              <a:t>Inclusion in Education Advisor</a:t>
            </a:r>
          </a:p>
        </p:txBody>
      </p:sp>
    </p:spTree>
    <p:extLst>
      <p:ext uri="{BB962C8B-B14F-4D97-AF65-F5344CB8AC3E}">
        <p14:creationId xmlns:p14="http://schemas.microsoft.com/office/powerpoint/2010/main" val="2256236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43E0-E4CB-B141-8DD4-D77D51BC958D}"/>
              </a:ext>
            </a:extLst>
          </p:cNvPr>
          <p:cNvSpPr>
            <a:spLocks noGrp="1"/>
          </p:cNvSpPr>
          <p:nvPr>
            <p:ph type="title"/>
          </p:nvPr>
        </p:nvSpPr>
        <p:spPr/>
        <p:txBody>
          <a:bodyPr/>
          <a:lstStyle/>
          <a:p>
            <a:r>
              <a:rPr lang="en-US" dirty="0"/>
              <a:t>PDA and the Conflicts for  Educators</a:t>
            </a:r>
          </a:p>
        </p:txBody>
      </p:sp>
      <p:sp>
        <p:nvSpPr>
          <p:cNvPr id="3" name="Content Placeholder 2">
            <a:extLst>
              <a:ext uri="{FF2B5EF4-FFF2-40B4-BE49-F238E27FC236}">
                <a16:creationId xmlns:a16="http://schemas.microsoft.com/office/drawing/2014/main" id="{5F8D4117-1044-F844-AF03-14365F36CE4E}"/>
              </a:ext>
            </a:extLst>
          </p:cNvPr>
          <p:cNvSpPr>
            <a:spLocks noGrp="1"/>
          </p:cNvSpPr>
          <p:nvPr>
            <p:ph idx="1"/>
          </p:nvPr>
        </p:nvSpPr>
        <p:spPr/>
        <p:txBody>
          <a:bodyPr>
            <a:normAutofit lnSpcReduction="10000"/>
          </a:bodyPr>
          <a:lstStyle/>
          <a:p>
            <a:pPr marL="0" indent="0">
              <a:buNone/>
            </a:pPr>
            <a:r>
              <a:rPr lang="en-US" sz="2400" dirty="0"/>
              <a:t>The conflicts</a:t>
            </a:r>
          </a:p>
          <a:p>
            <a:pPr marL="0" indent="0">
              <a:buNone/>
            </a:pPr>
            <a:endParaRPr lang="en-US" sz="2400" dirty="0"/>
          </a:p>
          <a:p>
            <a:r>
              <a:rPr lang="en-US" sz="2400" dirty="0"/>
              <a:t>The need for certainty .v. the need for flexibility</a:t>
            </a:r>
          </a:p>
          <a:p>
            <a:r>
              <a:rPr lang="en-US" sz="2400" dirty="0"/>
              <a:t>The need for routine .v. the need to be in control</a:t>
            </a:r>
          </a:p>
          <a:p>
            <a:r>
              <a:rPr lang="en-US" sz="2400" dirty="0"/>
              <a:t>The need for sameness .v. the need for high-interest and novelty</a:t>
            </a:r>
          </a:p>
          <a:p>
            <a:r>
              <a:rPr lang="en-US" sz="2400" dirty="0"/>
              <a:t>The need for the PDA child to l feel in control .v. the need for the teacher to maintain classroom </a:t>
            </a:r>
            <a:r>
              <a:rPr lang="en-US" sz="2400" dirty="0" err="1"/>
              <a:t>organisation</a:t>
            </a:r>
            <a:endParaRPr lang="en-US" sz="2400" dirty="0"/>
          </a:p>
          <a:p>
            <a:endParaRPr lang="en-US" dirty="0"/>
          </a:p>
          <a:p>
            <a:pPr marL="0" indent="0">
              <a:buNone/>
            </a:pPr>
            <a:endParaRPr lang="en-US" dirty="0"/>
          </a:p>
        </p:txBody>
      </p:sp>
    </p:spTree>
    <p:extLst>
      <p:ext uri="{BB962C8B-B14F-4D97-AF65-F5344CB8AC3E}">
        <p14:creationId xmlns:p14="http://schemas.microsoft.com/office/powerpoint/2010/main" val="2642713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D980-2219-CD4C-8AE1-E7FBE929CD84}"/>
              </a:ext>
            </a:extLst>
          </p:cNvPr>
          <p:cNvSpPr>
            <a:spLocks noGrp="1"/>
          </p:cNvSpPr>
          <p:nvPr>
            <p:ph type="title"/>
          </p:nvPr>
        </p:nvSpPr>
        <p:spPr/>
        <p:txBody>
          <a:bodyPr/>
          <a:lstStyle/>
          <a:p>
            <a:r>
              <a:rPr lang="en-US" dirty="0"/>
              <a:t>PDA and The Conflicts for the Child</a:t>
            </a:r>
          </a:p>
        </p:txBody>
      </p:sp>
      <p:sp>
        <p:nvSpPr>
          <p:cNvPr id="3" name="Content Placeholder 2">
            <a:extLst>
              <a:ext uri="{FF2B5EF4-FFF2-40B4-BE49-F238E27FC236}">
                <a16:creationId xmlns:a16="http://schemas.microsoft.com/office/drawing/2014/main" id="{7F918C57-D111-854E-9BBB-D502324D48E9}"/>
              </a:ext>
            </a:extLst>
          </p:cNvPr>
          <p:cNvSpPr>
            <a:spLocks noGrp="1"/>
          </p:cNvSpPr>
          <p:nvPr>
            <p:ph idx="1"/>
          </p:nvPr>
        </p:nvSpPr>
        <p:spPr/>
        <p:txBody>
          <a:bodyPr>
            <a:normAutofit fontScale="85000" lnSpcReduction="20000"/>
          </a:bodyPr>
          <a:lstStyle/>
          <a:p>
            <a:r>
              <a:rPr lang="en-US" sz="2200" dirty="0"/>
              <a:t>A specified start time and specific days chosen for them</a:t>
            </a:r>
          </a:p>
          <a:p>
            <a:r>
              <a:rPr lang="en-US" sz="2200" dirty="0"/>
              <a:t>Clothing chosen for them</a:t>
            </a:r>
          </a:p>
          <a:p>
            <a:r>
              <a:rPr lang="en-US" sz="2200" dirty="0"/>
              <a:t>Things they are told they have to learn and they must show interest and engagement with</a:t>
            </a:r>
          </a:p>
          <a:p>
            <a:r>
              <a:rPr lang="en-US" sz="2200" dirty="0"/>
              <a:t>Food chosen for them and given at a set time</a:t>
            </a:r>
          </a:p>
          <a:p>
            <a:r>
              <a:rPr lang="en-US" sz="2200" dirty="0"/>
              <a:t>Two further changes of clothes a day required if PE day</a:t>
            </a:r>
          </a:p>
          <a:p>
            <a:r>
              <a:rPr lang="en-US" sz="2200" dirty="0"/>
              <a:t>Adults in charge and instructions must be followed at all times, all through the day</a:t>
            </a:r>
          </a:p>
          <a:p>
            <a:r>
              <a:rPr lang="en-US" sz="2200" dirty="0"/>
              <a:t>Transitions happen suddenly and when the adult decides i.e. playtime ends at the blow of a whistle</a:t>
            </a:r>
          </a:p>
          <a:p>
            <a:r>
              <a:rPr lang="en-US" sz="2200" dirty="0"/>
              <a:t>Various sensory triggers to tolerate</a:t>
            </a:r>
          </a:p>
          <a:p>
            <a:r>
              <a:rPr lang="en-US" sz="2200" dirty="0"/>
              <a:t>Visitors to class that the child must accept</a:t>
            </a:r>
          </a:p>
          <a:p>
            <a:endParaRPr lang="en-US" dirty="0"/>
          </a:p>
        </p:txBody>
      </p:sp>
    </p:spTree>
    <p:extLst>
      <p:ext uri="{BB962C8B-B14F-4D97-AF65-F5344CB8AC3E}">
        <p14:creationId xmlns:p14="http://schemas.microsoft.com/office/powerpoint/2010/main" val="2968835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E3EAB-BFF9-4D4A-8FA7-F71EA1D570AB}"/>
              </a:ext>
            </a:extLst>
          </p:cNvPr>
          <p:cNvSpPr>
            <a:spLocks noGrp="1"/>
          </p:cNvSpPr>
          <p:nvPr>
            <p:ph type="title"/>
          </p:nvPr>
        </p:nvSpPr>
        <p:spPr/>
        <p:txBody>
          <a:bodyPr/>
          <a:lstStyle/>
          <a:p>
            <a:r>
              <a:rPr lang="en-US" dirty="0"/>
              <a:t>The Most Confusing Thing….</a:t>
            </a:r>
          </a:p>
        </p:txBody>
      </p:sp>
      <p:sp>
        <p:nvSpPr>
          <p:cNvPr id="3" name="Content Placeholder 2">
            <a:extLst>
              <a:ext uri="{FF2B5EF4-FFF2-40B4-BE49-F238E27FC236}">
                <a16:creationId xmlns:a16="http://schemas.microsoft.com/office/drawing/2014/main" id="{09F0644E-44BE-2F40-8B56-82CC215E4F58}"/>
              </a:ext>
            </a:extLst>
          </p:cNvPr>
          <p:cNvSpPr>
            <a:spLocks noGrp="1"/>
          </p:cNvSpPr>
          <p:nvPr>
            <p:ph idx="1"/>
          </p:nvPr>
        </p:nvSpPr>
        <p:spPr/>
        <p:txBody>
          <a:bodyPr>
            <a:normAutofit fontScale="92500" lnSpcReduction="20000"/>
          </a:bodyPr>
          <a:lstStyle/>
          <a:p>
            <a:pPr marL="0" indent="0">
              <a:buNone/>
            </a:pPr>
            <a:r>
              <a:rPr lang="en-US" dirty="0"/>
              <a:t>Sometimes they are ok with these things and sometimes they are not! This can lead people to believe that the child has control over their behavior. Essentially, how able they are to tolerate these aspects of school life depends on the child’s levels of anxiety on a given day.</a:t>
            </a:r>
          </a:p>
          <a:p>
            <a:pPr>
              <a:buFontTx/>
              <a:buChar char="-"/>
            </a:pPr>
            <a:endParaRPr lang="en-US" dirty="0"/>
          </a:p>
          <a:p>
            <a:pPr marL="0" indent="0">
              <a:buNone/>
            </a:pPr>
            <a:r>
              <a:rPr lang="en-US" dirty="0"/>
              <a:t>Anxiety can be triggered by;</a:t>
            </a:r>
          </a:p>
          <a:p>
            <a:pPr>
              <a:buFontTx/>
              <a:buChar char="-"/>
            </a:pPr>
            <a:r>
              <a:rPr lang="en-US" dirty="0"/>
              <a:t>Perceived demands</a:t>
            </a:r>
          </a:p>
          <a:p>
            <a:pPr>
              <a:buFontTx/>
              <a:buChar char="-"/>
            </a:pPr>
            <a:r>
              <a:rPr lang="en-US" dirty="0"/>
              <a:t>The excitement of expecting something and not being able to wait</a:t>
            </a:r>
          </a:p>
          <a:p>
            <a:pPr>
              <a:buFontTx/>
              <a:buChar char="-"/>
            </a:pPr>
            <a:endParaRPr lang="en-US" dirty="0"/>
          </a:p>
          <a:p>
            <a:pPr marL="0" indent="0">
              <a:buNone/>
            </a:pPr>
            <a:r>
              <a:rPr lang="en-US" dirty="0"/>
              <a:t>This makes triggers hard to see as being able to identify them require a very in-depth understanding of what affects the individual child. The child is unlikely to articulate what has upset them as they will have learned that it is socially unacceptable to do so.</a:t>
            </a:r>
          </a:p>
        </p:txBody>
      </p:sp>
    </p:spTree>
    <p:extLst>
      <p:ext uri="{BB962C8B-B14F-4D97-AF65-F5344CB8AC3E}">
        <p14:creationId xmlns:p14="http://schemas.microsoft.com/office/powerpoint/2010/main" val="3159477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F51F-D3E0-3C4C-BDA9-F2E917E69BBD}"/>
              </a:ext>
            </a:extLst>
          </p:cNvPr>
          <p:cNvSpPr>
            <a:spLocks noGrp="1"/>
          </p:cNvSpPr>
          <p:nvPr>
            <p:ph type="title"/>
          </p:nvPr>
        </p:nvSpPr>
        <p:spPr/>
        <p:txBody>
          <a:bodyPr/>
          <a:lstStyle/>
          <a:p>
            <a:r>
              <a:rPr lang="en-US" dirty="0"/>
              <a:t>Approaches to Consider</a:t>
            </a:r>
          </a:p>
        </p:txBody>
      </p:sp>
      <p:sp>
        <p:nvSpPr>
          <p:cNvPr id="3" name="Content Placeholder 2">
            <a:extLst>
              <a:ext uri="{FF2B5EF4-FFF2-40B4-BE49-F238E27FC236}">
                <a16:creationId xmlns:a16="http://schemas.microsoft.com/office/drawing/2014/main" id="{E982157A-18FE-BD46-95E0-EE1C90E0BBAD}"/>
              </a:ext>
            </a:extLst>
          </p:cNvPr>
          <p:cNvSpPr>
            <a:spLocks noGrp="1"/>
          </p:cNvSpPr>
          <p:nvPr>
            <p:ph idx="1"/>
          </p:nvPr>
        </p:nvSpPr>
        <p:spPr/>
        <p:txBody>
          <a:bodyPr>
            <a:normAutofit fontScale="92500" lnSpcReduction="20000"/>
          </a:bodyPr>
          <a:lstStyle/>
          <a:p>
            <a:pPr marL="0" indent="0">
              <a:buNone/>
            </a:pPr>
            <a:r>
              <a:rPr lang="en-US" sz="2800" dirty="0"/>
              <a:t>Communication styles</a:t>
            </a:r>
          </a:p>
          <a:p>
            <a:pPr lvl="1"/>
            <a:r>
              <a:rPr lang="en-US" sz="2400" dirty="0"/>
              <a:t>Open</a:t>
            </a:r>
          </a:p>
          <a:p>
            <a:pPr lvl="1"/>
            <a:r>
              <a:rPr lang="en-US" sz="2400" dirty="0"/>
              <a:t>Genuine</a:t>
            </a:r>
          </a:p>
          <a:p>
            <a:pPr lvl="1"/>
            <a:r>
              <a:rPr lang="en-US" sz="2400" dirty="0"/>
              <a:t>Calm and clear</a:t>
            </a:r>
          </a:p>
          <a:p>
            <a:pPr lvl="1"/>
            <a:r>
              <a:rPr lang="en-US" sz="2400" dirty="0"/>
              <a:t>Honest</a:t>
            </a:r>
          </a:p>
          <a:p>
            <a:pPr lvl="1"/>
            <a:r>
              <a:rPr lang="en-US" sz="2400" dirty="0"/>
              <a:t>Humorous</a:t>
            </a:r>
          </a:p>
          <a:p>
            <a:pPr lvl="1"/>
            <a:r>
              <a:rPr lang="en-US" sz="2400" dirty="0"/>
              <a:t>Give choices</a:t>
            </a:r>
          </a:p>
          <a:p>
            <a:pPr lvl="1"/>
            <a:r>
              <a:rPr lang="en-US" sz="2400" dirty="0"/>
              <a:t>Show no fear or discomfort</a:t>
            </a:r>
          </a:p>
          <a:p>
            <a:pPr lvl="1"/>
            <a:r>
              <a:rPr lang="en-US" sz="2400" dirty="0"/>
              <a:t>Be able to let things go quickly</a:t>
            </a:r>
          </a:p>
          <a:p>
            <a:pPr marL="457200" lvl="1" indent="0">
              <a:buNone/>
            </a:pPr>
            <a:endParaRPr lang="en-US" sz="2400" dirty="0"/>
          </a:p>
          <a:p>
            <a:pPr marL="457200" lvl="1" indent="0">
              <a:buNone/>
            </a:pPr>
            <a:r>
              <a:rPr lang="en-US" sz="2400" dirty="0"/>
              <a:t>Communication is a key skill which also relates to personality and the well-being of the individual. </a:t>
            </a:r>
          </a:p>
        </p:txBody>
      </p:sp>
    </p:spTree>
    <p:extLst>
      <p:ext uri="{BB962C8B-B14F-4D97-AF65-F5344CB8AC3E}">
        <p14:creationId xmlns:p14="http://schemas.microsoft.com/office/powerpoint/2010/main" val="3564098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D8224-1A0D-3E44-80CA-8074BC28A013}"/>
              </a:ext>
            </a:extLst>
          </p:cNvPr>
          <p:cNvSpPr>
            <a:spLocks noGrp="1"/>
          </p:cNvSpPr>
          <p:nvPr>
            <p:ph type="title"/>
          </p:nvPr>
        </p:nvSpPr>
        <p:spPr/>
        <p:txBody>
          <a:bodyPr/>
          <a:lstStyle/>
          <a:p>
            <a:r>
              <a:rPr lang="en-US" dirty="0"/>
              <a:t>Some Small Ways to Help</a:t>
            </a:r>
          </a:p>
        </p:txBody>
      </p:sp>
      <p:sp>
        <p:nvSpPr>
          <p:cNvPr id="3" name="Content Placeholder 2">
            <a:extLst>
              <a:ext uri="{FF2B5EF4-FFF2-40B4-BE49-F238E27FC236}">
                <a16:creationId xmlns:a16="http://schemas.microsoft.com/office/drawing/2014/main" id="{D0F47F22-3097-A146-AAA6-1F2AD09FF17E}"/>
              </a:ext>
            </a:extLst>
          </p:cNvPr>
          <p:cNvSpPr>
            <a:spLocks noGrp="1"/>
          </p:cNvSpPr>
          <p:nvPr>
            <p:ph idx="1"/>
          </p:nvPr>
        </p:nvSpPr>
        <p:spPr/>
        <p:txBody>
          <a:bodyPr/>
          <a:lstStyle/>
          <a:p>
            <a:r>
              <a:rPr lang="en-US" dirty="0"/>
              <a:t>Allow the child to express their view without being told they are being rude or disrespectful i.e. the child says ‘I don’t like this lesson’ then why can’t the response be ‘Oh really, why is that?’ and see where an open and non-judgmental conversation takes you. It can be hard not to take these responses personally. </a:t>
            </a:r>
          </a:p>
          <a:p>
            <a:endParaRPr lang="en-US" dirty="0"/>
          </a:p>
          <a:p>
            <a:r>
              <a:rPr lang="en-US" dirty="0"/>
              <a:t>Pre-plan your response to the child saying ‘I just don’t want to’. How does this make you feel? Can we </a:t>
            </a:r>
            <a:r>
              <a:rPr lang="en-US" dirty="0" err="1"/>
              <a:t>recognise</a:t>
            </a:r>
            <a:r>
              <a:rPr lang="en-US" dirty="0"/>
              <a:t> these feelings but also rationalize that this does not mean the child is being anything other than simply honest. Can we appreciate these feelings and provide an alternative? Will it work if we just say ‘Well you just have to because I have told you to’.</a:t>
            </a:r>
          </a:p>
        </p:txBody>
      </p:sp>
    </p:spTree>
    <p:extLst>
      <p:ext uri="{BB962C8B-B14F-4D97-AF65-F5344CB8AC3E}">
        <p14:creationId xmlns:p14="http://schemas.microsoft.com/office/powerpoint/2010/main" val="310800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C360-4AD5-C844-B1F1-5EECEC75F42D}"/>
              </a:ext>
            </a:extLst>
          </p:cNvPr>
          <p:cNvSpPr>
            <a:spLocks noGrp="1"/>
          </p:cNvSpPr>
          <p:nvPr>
            <p:ph type="title"/>
          </p:nvPr>
        </p:nvSpPr>
        <p:spPr/>
        <p:txBody>
          <a:bodyPr/>
          <a:lstStyle/>
          <a:p>
            <a:r>
              <a:rPr lang="en-US" dirty="0"/>
              <a:t>Key Consideration: TA Deployment</a:t>
            </a:r>
          </a:p>
        </p:txBody>
      </p:sp>
      <p:sp>
        <p:nvSpPr>
          <p:cNvPr id="3" name="Content Placeholder 2">
            <a:extLst>
              <a:ext uri="{FF2B5EF4-FFF2-40B4-BE49-F238E27FC236}">
                <a16:creationId xmlns:a16="http://schemas.microsoft.com/office/drawing/2014/main" id="{7D7D7D31-96A6-D04B-9E88-D49FF31CC0FD}"/>
              </a:ext>
            </a:extLst>
          </p:cNvPr>
          <p:cNvSpPr>
            <a:spLocks noGrp="1"/>
          </p:cNvSpPr>
          <p:nvPr>
            <p:ph idx="1"/>
          </p:nvPr>
        </p:nvSpPr>
        <p:spPr>
          <a:xfrm>
            <a:off x="5118447" y="803186"/>
            <a:ext cx="6653006" cy="5794384"/>
          </a:xfrm>
        </p:spPr>
        <p:txBody>
          <a:bodyPr>
            <a:normAutofit lnSpcReduction="10000"/>
          </a:bodyPr>
          <a:lstStyle/>
          <a:p>
            <a:endParaRPr lang="en-US" dirty="0"/>
          </a:p>
          <a:p>
            <a:pPr marL="0" indent="0">
              <a:buNone/>
            </a:pPr>
            <a:r>
              <a:rPr lang="en-US" sz="1900" dirty="0"/>
              <a:t>Consideration needs to be given to who works closely with a child with PDA, what their skills are and also how they are deployed.</a:t>
            </a:r>
          </a:p>
          <a:p>
            <a:pPr marL="0" indent="0">
              <a:buNone/>
            </a:pPr>
            <a:r>
              <a:rPr lang="en-US" sz="2200" b="1" dirty="0"/>
              <a:t>Deployment</a:t>
            </a:r>
            <a:endParaRPr lang="en-US" sz="1900" b="1" dirty="0"/>
          </a:p>
          <a:p>
            <a:r>
              <a:rPr lang="en-US" sz="1900" dirty="0"/>
              <a:t>Shared role – Some pupils benefit more from working with different individuals as long as the plan is consistent. The role of 1:1 TA is challenging for both the child and the member of staff.</a:t>
            </a:r>
          </a:p>
          <a:p>
            <a:r>
              <a:rPr lang="en-US" sz="1900" dirty="0"/>
              <a:t>Flexibility in timetable and planned proximity of support – close proximity can sometimes heighten the demand and create friction. The individual needs to be confident and intuitive in stepping way when required.</a:t>
            </a:r>
          </a:p>
          <a:p>
            <a:r>
              <a:rPr lang="en-US" sz="1900" dirty="0"/>
              <a:t>Interventions – A tricky area. Must be presented carefully or will be seen as another demand. </a:t>
            </a:r>
          </a:p>
          <a:p>
            <a:endParaRPr lang="en-US" dirty="0"/>
          </a:p>
          <a:p>
            <a:pPr marL="0" indent="0">
              <a:buNone/>
            </a:pPr>
            <a:endParaRPr lang="en-US" dirty="0"/>
          </a:p>
        </p:txBody>
      </p:sp>
    </p:spTree>
    <p:extLst>
      <p:ext uri="{BB962C8B-B14F-4D97-AF65-F5344CB8AC3E}">
        <p14:creationId xmlns:p14="http://schemas.microsoft.com/office/powerpoint/2010/main" val="929293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1114E-D6F7-434B-A108-9BF675DB969E}"/>
              </a:ext>
            </a:extLst>
          </p:cNvPr>
          <p:cNvSpPr>
            <a:spLocks noGrp="1"/>
          </p:cNvSpPr>
          <p:nvPr>
            <p:ph type="title"/>
          </p:nvPr>
        </p:nvSpPr>
        <p:spPr/>
        <p:txBody>
          <a:bodyPr/>
          <a:lstStyle/>
          <a:p>
            <a:r>
              <a:rPr lang="en-US" dirty="0"/>
              <a:t>Key Considerations: TA Deployment</a:t>
            </a:r>
          </a:p>
        </p:txBody>
      </p:sp>
      <p:sp>
        <p:nvSpPr>
          <p:cNvPr id="3" name="Content Placeholder 2">
            <a:extLst>
              <a:ext uri="{FF2B5EF4-FFF2-40B4-BE49-F238E27FC236}">
                <a16:creationId xmlns:a16="http://schemas.microsoft.com/office/drawing/2014/main" id="{CEB17C66-33E7-6549-9ED0-AD288D3F60E1}"/>
              </a:ext>
            </a:extLst>
          </p:cNvPr>
          <p:cNvSpPr>
            <a:spLocks noGrp="1"/>
          </p:cNvSpPr>
          <p:nvPr>
            <p:ph idx="1"/>
          </p:nvPr>
        </p:nvSpPr>
        <p:spPr/>
        <p:txBody>
          <a:bodyPr>
            <a:normAutofit lnSpcReduction="10000"/>
          </a:bodyPr>
          <a:lstStyle/>
          <a:p>
            <a:pPr marL="0" indent="0">
              <a:buNone/>
            </a:pPr>
            <a:r>
              <a:rPr lang="en-US" sz="2400" b="1" dirty="0"/>
              <a:t>Nature of the skills required</a:t>
            </a:r>
          </a:p>
          <a:p>
            <a:pPr lvl="1"/>
            <a:r>
              <a:rPr lang="en-US" sz="2000" dirty="0"/>
              <a:t>Personal approaches</a:t>
            </a:r>
          </a:p>
          <a:p>
            <a:pPr lvl="1"/>
            <a:r>
              <a:rPr lang="en-US" sz="2000" dirty="0"/>
              <a:t>Flexible</a:t>
            </a:r>
          </a:p>
          <a:p>
            <a:pPr lvl="1"/>
            <a:r>
              <a:rPr lang="en-US" sz="2000" dirty="0"/>
              <a:t>Creative</a:t>
            </a:r>
          </a:p>
          <a:p>
            <a:pPr lvl="1"/>
            <a:r>
              <a:rPr lang="en-US" sz="2000" dirty="0"/>
              <a:t>Good self-regulation of emotion and able to maintain good mental health and well-being</a:t>
            </a:r>
          </a:p>
          <a:p>
            <a:pPr lvl="1"/>
            <a:r>
              <a:rPr lang="en-US" sz="2000" dirty="0"/>
              <a:t>Good role model </a:t>
            </a:r>
          </a:p>
          <a:p>
            <a:pPr lvl="1"/>
            <a:r>
              <a:rPr lang="en-US" sz="2000" dirty="0"/>
              <a:t>Consistent</a:t>
            </a:r>
          </a:p>
          <a:p>
            <a:pPr lvl="1"/>
            <a:r>
              <a:rPr lang="en-US" sz="2000" dirty="0"/>
              <a:t>Able to work as part of a team </a:t>
            </a:r>
          </a:p>
          <a:p>
            <a:pPr lvl="1"/>
            <a:r>
              <a:rPr lang="en-US" sz="2000" dirty="0"/>
              <a:t>Excellent communicator</a:t>
            </a:r>
          </a:p>
          <a:p>
            <a:pPr lvl="1"/>
            <a:r>
              <a:rPr lang="en-US" sz="2000" dirty="0"/>
              <a:t>Maintains certain boundaries – non-negotiables</a:t>
            </a:r>
          </a:p>
          <a:p>
            <a:pPr lvl="1"/>
            <a:r>
              <a:rPr lang="en-US" sz="2000" dirty="0"/>
              <a:t>Trained to de-escalate</a:t>
            </a:r>
          </a:p>
          <a:p>
            <a:endParaRPr lang="en-US" dirty="0"/>
          </a:p>
        </p:txBody>
      </p:sp>
    </p:spTree>
    <p:extLst>
      <p:ext uri="{BB962C8B-B14F-4D97-AF65-F5344CB8AC3E}">
        <p14:creationId xmlns:p14="http://schemas.microsoft.com/office/powerpoint/2010/main" val="4058307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B1D79-1276-974F-8D0A-9D237BB3C99D}"/>
              </a:ext>
            </a:extLst>
          </p:cNvPr>
          <p:cNvSpPr>
            <a:spLocks noGrp="1"/>
          </p:cNvSpPr>
          <p:nvPr>
            <p:ph type="title"/>
          </p:nvPr>
        </p:nvSpPr>
        <p:spPr/>
        <p:txBody>
          <a:bodyPr>
            <a:normAutofit fontScale="90000"/>
          </a:bodyPr>
          <a:lstStyle/>
          <a:p>
            <a:r>
              <a:rPr lang="en-US" dirty="0"/>
              <a:t>Key Considerations: Person-</a:t>
            </a:r>
            <a:r>
              <a:rPr lang="en-US" dirty="0" err="1"/>
              <a:t>Centred</a:t>
            </a:r>
            <a:r>
              <a:rPr lang="en-US" dirty="0"/>
              <a:t> Practice</a:t>
            </a:r>
          </a:p>
        </p:txBody>
      </p:sp>
      <p:sp>
        <p:nvSpPr>
          <p:cNvPr id="3" name="Content Placeholder 2">
            <a:extLst>
              <a:ext uri="{FF2B5EF4-FFF2-40B4-BE49-F238E27FC236}">
                <a16:creationId xmlns:a16="http://schemas.microsoft.com/office/drawing/2014/main" id="{1963909C-089A-084D-8783-775659198524}"/>
              </a:ext>
            </a:extLst>
          </p:cNvPr>
          <p:cNvSpPr>
            <a:spLocks noGrp="1"/>
          </p:cNvSpPr>
          <p:nvPr>
            <p:ph idx="1"/>
          </p:nvPr>
        </p:nvSpPr>
        <p:spPr>
          <a:xfrm>
            <a:off x="4826643" y="300942"/>
            <a:ext cx="7014258" cy="6238754"/>
          </a:xfrm>
        </p:spPr>
        <p:txBody>
          <a:bodyPr>
            <a:normAutofit/>
          </a:bodyPr>
          <a:lstStyle/>
          <a:p>
            <a:r>
              <a:rPr lang="en-US" dirty="0"/>
              <a:t>Time dedicated to person-</a:t>
            </a:r>
            <a:r>
              <a:rPr lang="en-US" dirty="0" err="1"/>
              <a:t>centred</a:t>
            </a:r>
            <a:r>
              <a:rPr lang="en-US" dirty="0"/>
              <a:t> planning and devising a one-page profile which is co-produced with parents/</a:t>
            </a:r>
            <a:r>
              <a:rPr lang="en-US" dirty="0" err="1"/>
              <a:t>carers</a:t>
            </a:r>
            <a:r>
              <a:rPr lang="en-US" dirty="0"/>
              <a:t> and the child</a:t>
            </a:r>
          </a:p>
          <a:p>
            <a:endParaRPr lang="en-US" dirty="0"/>
          </a:p>
          <a:p>
            <a:pPr marL="0" indent="0">
              <a:buNone/>
            </a:pPr>
            <a:r>
              <a:rPr lang="en-US" b="1" dirty="0"/>
              <a:t>What we need to know…</a:t>
            </a:r>
          </a:p>
          <a:p>
            <a:r>
              <a:rPr lang="en-US" dirty="0"/>
              <a:t>What we appreciate about the child</a:t>
            </a:r>
          </a:p>
          <a:p>
            <a:r>
              <a:rPr lang="en-US" dirty="0"/>
              <a:t>What difficulties they have – think about wording and how to identify the underlying lagging skill rather than just labelling the behavior</a:t>
            </a:r>
          </a:p>
          <a:p>
            <a:r>
              <a:rPr lang="en-US" dirty="0"/>
              <a:t>What works – interventions and approaches</a:t>
            </a:r>
          </a:p>
          <a:p>
            <a:r>
              <a:rPr lang="en-US" dirty="0"/>
              <a:t>What doesn’t work!</a:t>
            </a:r>
          </a:p>
          <a:p>
            <a:r>
              <a:rPr lang="en-US" dirty="0"/>
              <a:t>How we can help – key communication approaches</a:t>
            </a:r>
          </a:p>
          <a:p>
            <a:r>
              <a:rPr lang="en-US" dirty="0"/>
              <a:t>What outcomes are we working for</a:t>
            </a:r>
          </a:p>
        </p:txBody>
      </p:sp>
    </p:spTree>
    <p:extLst>
      <p:ext uri="{BB962C8B-B14F-4D97-AF65-F5344CB8AC3E}">
        <p14:creationId xmlns:p14="http://schemas.microsoft.com/office/powerpoint/2010/main" val="2212420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C7731-7E65-D540-882E-E1C79C7C92D5}"/>
              </a:ext>
            </a:extLst>
          </p:cNvPr>
          <p:cNvSpPr>
            <a:spLocks noGrp="1"/>
          </p:cNvSpPr>
          <p:nvPr>
            <p:ph type="title"/>
          </p:nvPr>
        </p:nvSpPr>
        <p:spPr/>
        <p:txBody>
          <a:bodyPr/>
          <a:lstStyle/>
          <a:p>
            <a:r>
              <a:rPr lang="en-US" dirty="0"/>
              <a:t>Key Considerations: De-escalation</a:t>
            </a:r>
          </a:p>
        </p:txBody>
      </p:sp>
      <p:sp>
        <p:nvSpPr>
          <p:cNvPr id="3" name="Content Placeholder 2">
            <a:extLst>
              <a:ext uri="{FF2B5EF4-FFF2-40B4-BE49-F238E27FC236}">
                <a16:creationId xmlns:a16="http://schemas.microsoft.com/office/drawing/2014/main" id="{1704DED9-0D6D-DA47-90ED-69C74EBB432D}"/>
              </a:ext>
            </a:extLst>
          </p:cNvPr>
          <p:cNvSpPr>
            <a:spLocks noGrp="1"/>
          </p:cNvSpPr>
          <p:nvPr>
            <p:ph idx="1"/>
          </p:nvPr>
        </p:nvSpPr>
        <p:spPr/>
        <p:txBody>
          <a:bodyPr>
            <a:normAutofit fontScale="92500" lnSpcReduction="20000"/>
          </a:bodyPr>
          <a:lstStyle/>
          <a:p>
            <a:r>
              <a:rPr lang="en-US" sz="2400" dirty="0"/>
              <a:t>Training in the stress cycle </a:t>
            </a:r>
          </a:p>
          <a:p>
            <a:r>
              <a:rPr lang="en-US" sz="2400" dirty="0"/>
              <a:t>Meltdown prevention planning/Risk assessment</a:t>
            </a:r>
          </a:p>
          <a:p>
            <a:r>
              <a:rPr lang="en-US" sz="2400" dirty="0"/>
              <a:t>Reduction/avoidance of physical intervention</a:t>
            </a:r>
          </a:p>
          <a:p>
            <a:r>
              <a:rPr lang="en-US" sz="2400" dirty="0"/>
              <a:t>Key spaces within the environment</a:t>
            </a:r>
          </a:p>
          <a:p>
            <a:r>
              <a:rPr lang="en-US" sz="2400" dirty="0"/>
              <a:t>Awareness of the effect of adrenaline on processing and overall mental health and well-being</a:t>
            </a:r>
          </a:p>
          <a:p>
            <a:r>
              <a:rPr lang="en-US" sz="2400" dirty="0"/>
              <a:t>Maintain calm and neutral tone</a:t>
            </a:r>
          </a:p>
          <a:p>
            <a:r>
              <a:rPr lang="en-US" sz="2400" dirty="0"/>
              <a:t>Acknowledge the feelings of the child</a:t>
            </a:r>
          </a:p>
          <a:p>
            <a:r>
              <a:rPr lang="en-US" sz="2400" dirty="0"/>
              <a:t>Give time and space – the child can remain in a heightened state for up to 90 minutes</a:t>
            </a:r>
          </a:p>
          <a:p>
            <a:endParaRPr lang="en-US" dirty="0"/>
          </a:p>
        </p:txBody>
      </p:sp>
    </p:spTree>
    <p:extLst>
      <p:ext uri="{BB962C8B-B14F-4D97-AF65-F5344CB8AC3E}">
        <p14:creationId xmlns:p14="http://schemas.microsoft.com/office/powerpoint/2010/main" val="719715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530B-CBA6-2A47-8870-FFD856E2E840}"/>
              </a:ext>
            </a:extLst>
          </p:cNvPr>
          <p:cNvSpPr>
            <a:spLocks noGrp="1"/>
          </p:cNvSpPr>
          <p:nvPr>
            <p:ph type="title"/>
          </p:nvPr>
        </p:nvSpPr>
        <p:spPr/>
        <p:txBody>
          <a:bodyPr/>
          <a:lstStyle/>
          <a:p>
            <a:r>
              <a:rPr lang="en-US" dirty="0"/>
              <a:t>Prevention is Better than Cure</a:t>
            </a:r>
          </a:p>
        </p:txBody>
      </p:sp>
      <p:sp>
        <p:nvSpPr>
          <p:cNvPr id="3" name="Content Placeholder 2">
            <a:extLst>
              <a:ext uri="{FF2B5EF4-FFF2-40B4-BE49-F238E27FC236}">
                <a16:creationId xmlns:a16="http://schemas.microsoft.com/office/drawing/2014/main" id="{4F29EC9A-35D2-BF40-9FE9-04190811F7BB}"/>
              </a:ext>
            </a:extLst>
          </p:cNvPr>
          <p:cNvSpPr>
            <a:spLocks noGrp="1"/>
          </p:cNvSpPr>
          <p:nvPr>
            <p:ph idx="1"/>
          </p:nvPr>
        </p:nvSpPr>
        <p:spPr/>
        <p:txBody>
          <a:bodyPr>
            <a:normAutofit/>
          </a:bodyPr>
          <a:lstStyle/>
          <a:p>
            <a:r>
              <a:rPr lang="en-US" sz="2400" dirty="0"/>
              <a:t>A calm, relaxed and well-</a:t>
            </a:r>
            <a:r>
              <a:rPr lang="en-US" sz="2400" dirty="0" err="1"/>
              <a:t>organised</a:t>
            </a:r>
            <a:r>
              <a:rPr lang="en-US" sz="2400" dirty="0"/>
              <a:t> learning environment</a:t>
            </a:r>
          </a:p>
          <a:p>
            <a:r>
              <a:rPr lang="en-US" sz="2400" dirty="0"/>
              <a:t>Confident staff – training, planning and back-up</a:t>
            </a:r>
          </a:p>
          <a:p>
            <a:r>
              <a:rPr lang="en-US" sz="2400" dirty="0"/>
              <a:t>A high level of parental involvement</a:t>
            </a:r>
          </a:p>
          <a:p>
            <a:r>
              <a:rPr lang="en-US" sz="2400" dirty="0"/>
              <a:t>Flexibility and differentiation in approaches to </a:t>
            </a:r>
            <a:r>
              <a:rPr lang="en-US" sz="2400" dirty="0" err="1"/>
              <a:t>behaviour</a:t>
            </a:r>
            <a:endParaRPr lang="en-US" sz="2400" dirty="0"/>
          </a:p>
          <a:p>
            <a:r>
              <a:rPr lang="en-US" sz="2400" dirty="0"/>
              <a:t>Support from specialist agencies</a:t>
            </a:r>
          </a:p>
          <a:p>
            <a:r>
              <a:rPr lang="en-US" sz="2400" dirty="0"/>
              <a:t>Whole school approaches to self-regulation and growth mindset</a:t>
            </a:r>
          </a:p>
        </p:txBody>
      </p:sp>
    </p:spTree>
    <p:extLst>
      <p:ext uri="{BB962C8B-B14F-4D97-AF65-F5344CB8AC3E}">
        <p14:creationId xmlns:p14="http://schemas.microsoft.com/office/powerpoint/2010/main" val="3464768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C392-BB11-2145-A360-031299A141C4}"/>
              </a:ext>
            </a:extLst>
          </p:cNvPr>
          <p:cNvSpPr>
            <a:spLocks noGrp="1"/>
          </p:cNvSpPr>
          <p:nvPr>
            <p:ph type="title"/>
          </p:nvPr>
        </p:nvSpPr>
        <p:spPr/>
        <p:txBody>
          <a:bodyPr/>
          <a:lstStyle/>
          <a:p>
            <a:r>
              <a:rPr lang="en-US" dirty="0"/>
              <a:t>Any Questions?</a:t>
            </a:r>
          </a:p>
        </p:txBody>
      </p:sp>
      <p:sp>
        <p:nvSpPr>
          <p:cNvPr id="3" name="Content Placeholder 2">
            <a:extLst>
              <a:ext uri="{FF2B5EF4-FFF2-40B4-BE49-F238E27FC236}">
                <a16:creationId xmlns:a16="http://schemas.microsoft.com/office/drawing/2014/main" id="{C740B474-EBD2-7143-B08C-A9DFEC8A4D7C}"/>
              </a:ext>
            </a:extLst>
          </p:cNvPr>
          <p:cNvSpPr>
            <a:spLocks noGrp="1"/>
          </p:cNvSpPr>
          <p:nvPr>
            <p:ph idx="1"/>
          </p:nvPr>
        </p:nvSpPr>
        <p:spPr/>
        <p:txBody>
          <a:bodyPr>
            <a:normAutofit/>
          </a:bodyPr>
          <a:lstStyle/>
          <a:p>
            <a:pPr marL="0" indent="0">
              <a:buNone/>
            </a:pPr>
            <a:r>
              <a:rPr lang="en-US" sz="2400" dirty="0"/>
              <a:t>Twitter: NatMen2907</a:t>
            </a:r>
          </a:p>
          <a:p>
            <a:pPr marL="0" indent="0">
              <a:buNone/>
            </a:pPr>
            <a:r>
              <a:rPr lang="en-US" sz="2400" dirty="0"/>
              <a:t>Email: </a:t>
            </a:r>
            <a:r>
              <a:rPr lang="en-US" sz="2400" dirty="0">
                <a:hlinkClick r:id="rId2"/>
              </a:rPr>
              <a:t>nataliemenagh@gmail.com</a:t>
            </a:r>
            <a:endParaRPr lang="en-US" sz="2400" dirty="0"/>
          </a:p>
          <a:p>
            <a:pPr marL="0" indent="0">
              <a:buNone/>
            </a:pPr>
            <a:endParaRPr lang="en-US" sz="2400" dirty="0"/>
          </a:p>
          <a:p>
            <a:pPr marL="0" indent="0">
              <a:buNone/>
            </a:pPr>
            <a:r>
              <a:rPr lang="en-US" sz="2400" dirty="0"/>
              <a:t>Further advice: The PDA Society website</a:t>
            </a:r>
          </a:p>
        </p:txBody>
      </p:sp>
    </p:spTree>
    <p:extLst>
      <p:ext uri="{BB962C8B-B14F-4D97-AF65-F5344CB8AC3E}">
        <p14:creationId xmlns:p14="http://schemas.microsoft.com/office/powerpoint/2010/main" val="1117615300"/>
      </p:ext>
    </p:extLst>
  </p:cSld>
  <p:clrMapOvr>
    <a:masterClrMapping/>
  </p:clrMapOvr>
</p:sld>
</file>

<file path=ppt/theme/theme1.xml><?xml version="1.0" encoding="utf-8"?>
<a:theme xmlns:a="http://schemas.openxmlformats.org/drawingml/2006/main" name="Atla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C0EF0781-FB17-4F1F-B3B1-699933968CEA}"/>
    </a:ext>
  </a:extLst>
</a:theme>
</file>

<file path=docProps/app.xml><?xml version="1.0" encoding="utf-8"?>
<Properties xmlns="http://schemas.openxmlformats.org/officeDocument/2006/extended-properties" xmlns:vt="http://schemas.openxmlformats.org/officeDocument/2006/docPropsVTypes">
  <Template>{6812BBFA-510D-1F4C-AD0B-E2F22C585B93}tf16401369</Template>
  <TotalTime>81</TotalTime>
  <Words>874</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 Light</vt:lpstr>
      <vt:lpstr>Rockwell</vt:lpstr>
      <vt:lpstr>Wingdings</vt:lpstr>
      <vt:lpstr>Atlas</vt:lpstr>
      <vt:lpstr>PDA School Provision Challenges and Strategies</vt:lpstr>
      <vt:lpstr>PDA and the Conflicts for  Educators</vt:lpstr>
      <vt:lpstr>PDA and The Conflicts for the Child</vt:lpstr>
      <vt:lpstr>The Most Confusing Thing….</vt:lpstr>
      <vt:lpstr>Approaches to Consider</vt:lpstr>
      <vt:lpstr>Some Small Ways to Help</vt:lpstr>
      <vt:lpstr>Key Consideration: TA Deployment</vt:lpstr>
      <vt:lpstr>Key Considerations: TA Deployment</vt:lpstr>
      <vt:lpstr>Key Considerations: Person-Centred Practice</vt:lpstr>
      <vt:lpstr>Key Considerations: De-escalation</vt:lpstr>
      <vt:lpstr>Prevention is Better than Cure</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PDA School Provision Challenges and Strategies</dc:title>
  <dc:creator>Microsoft Office User</dc:creator>
  <cp:lastModifiedBy>Janet Matthews</cp:lastModifiedBy>
  <cp:revision>9</cp:revision>
  <dcterms:created xsi:type="dcterms:W3CDTF">2019-11-10T18:56:05Z</dcterms:created>
  <dcterms:modified xsi:type="dcterms:W3CDTF">2019-11-14T10:16:50Z</dcterms:modified>
</cp:coreProperties>
</file>