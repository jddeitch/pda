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8"/>
  </p:notesMasterIdLst>
  <p:handoutMasterIdLst>
    <p:handoutMasterId r:id="rId9"/>
  </p:handoutMasterIdLst>
  <p:sldIdLst>
    <p:sldId id="1043" r:id="rId2"/>
    <p:sldId id="1037" r:id="rId3"/>
    <p:sldId id="1038" r:id="rId4"/>
    <p:sldId id="1039" r:id="rId5"/>
    <p:sldId id="1041" r:id="rId6"/>
    <p:sldId id="1042" r:id="rId7"/>
  </p:sldIdLst>
  <p:sldSz cx="9144000" cy="6858000" type="screen4x3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17B"/>
    <a:srgbClr val="D46102"/>
    <a:srgbClr val="5F154C"/>
    <a:srgbClr val="C65F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123" autoAdjust="0"/>
    <p:restoredTop sz="76219" autoAdjust="0"/>
  </p:normalViewPr>
  <p:slideViewPr>
    <p:cSldViewPr>
      <p:cViewPr varScale="1">
        <p:scale>
          <a:sx n="88" d="100"/>
          <a:sy n="88" d="100"/>
        </p:scale>
        <p:origin x="189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7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4871" cy="501015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1698" y="1"/>
            <a:ext cx="2984871" cy="501015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EB0653A9-AC6D-4231-99DE-523C55744206}" type="datetimeFigureOut">
              <a:rPr lang="en-US" smtClean="0"/>
              <a:pPr/>
              <a:t>11/15/2019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1015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1015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702F7C6A-48D8-4E9E-8243-AA2A2841F0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6521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4871" cy="501015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1"/>
            <a:ext cx="2984871" cy="501015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17A9C0CF-A4BF-4C0A-8C28-EF57F1476E66}" type="datetimeFigureOut">
              <a:rPr lang="en-GB" smtClean="0"/>
              <a:pPr/>
              <a:t>15/11/2019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759644"/>
            <a:ext cx="5510530" cy="4509135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1015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1015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CDA6C611-37C8-4E42-8EBD-9293ADBA0E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401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6C611-37C8-4E42-8EBD-9293ADBA0E5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99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6C611-37C8-4E42-8EBD-9293ADBA0E57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64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23AD-BD9B-4459-A7E2-E4ED01C9576B}" type="datetime1">
              <a:rPr lang="en-US" smtClean="0"/>
              <a:t>11/15/2019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2016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389120"/>
          </a:xfrm>
        </p:spPr>
        <p:txBody>
          <a:bodyPr/>
          <a:lstStyle>
            <a:lvl1pPr>
              <a:buClr>
                <a:schemeClr val="tx2"/>
              </a:buCl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buClr>
                <a:schemeClr val="tx2"/>
              </a:buClr>
              <a:defRPr>
                <a:latin typeface="+mj-lt"/>
              </a:defRPr>
            </a:lvl3pPr>
            <a:lvl4pPr>
              <a:buClr>
                <a:schemeClr val="tx2"/>
              </a:buClr>
              <a:defRPr>
                <a:latin typeface="+mj-lt"/>
              </a:defRPr>
            </a:lvl4pPr>
            <a:lvl5pPr>
              <a:buClr>
                <a:schemeClr val="tx2"/>
              </a:buClr>
              <a:defRPr>
                <a:latin typeface="+mj-lt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B92E0-0DB4-4809-9674-8623AD955C11}" type="datetime1">
              <a:rPr lang="en-US" smtClean="0"/>
              <a:t>11/15/2019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980728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73065-ECFE-4C2B-873F-7855263C340E}" type="datetime1">
              <a:rPr lang="en-US" smtClean="0"/>
              <a:t>11/15/2019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4784"/>
            <a:ext cx="4038600" cy="4434840"/>
          </a:xfrm>
        </p:spPr>
        <p:txBody>
          <a:bodyPr/>
          <a:lstStyle>
            <a:lvl1pPr>
              <a:defRPr sz="26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4784"/>
            <a:ext cx="4038600" cy="4434840"/>
          </a:xfrm>
        </p:spPr>
        <p:txBody>
          <a:bodyPr/>
          <a:lstStyle>
            <a:lvl1pPr>
              <a:defRPr sz="26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B5D1-2174-4357-9877-CB71F1AE3217}" type="datetime1">
              <a:rPr lang="en-US" smtClean="0"/>
              <a:t>11/15/2019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88C-FE1F-4A09-B662-EE80158BE9DC}" type="datetime1">
              <a:rPr lang="en-US" smtClean="0"/>
              <a:t>11/15/2019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1D22E-1230-4ADB-96B6-A58282E4852F}" type="datetime1">
              <a:rPr lang="en-US" smtClean="0"/>
              <a:t>11/15/2019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8473-D629-4D01-9FBD-8B123BE30C82}" type="datetime1">
              <a:rPr lang="en-US" smtClean="0"/>
              <a:t>11/15/2019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9C1F-9F76-42EF-B1F0-BF3EDBB20E14}" type="datetime1">
              <a:rPr lang="en-US" smtClean="0"/>
              <a:t>11/15/2019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E8F6987-ABF6-4F2A-9079-4E2EF053C42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C94D-F4AB-458C-9EF8-02FAF011A7C9}" type="datetime1">
              <a:rPr lang="en-US" smtClean="0"/>
              <a:t>11/15/2019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6296" y="980728"/>
            <a:ext cx="1584176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600" y="980728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1390-0E15-4D88-A70F-A9C9255AEDD2}" type="datetime1">
              <a:rPr lang="en-US" smtClean="0"/>
              <a:t>11/15/2019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8825" y="378690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8825" y="1556792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3290532-3521-4D16-9F0A-CE7CC4CB12B3}" type="datetime1">
              <a:rPr lang="en-US" smtClean="0"/>
              <a:t>11/15/2019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 dirty="0"/>
              <a:t>© PDA Society 2019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6FF326C-3B1F-4602-A8AB-4D88AA0E6BD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830044"/>
            <a:ext cx="911424" cy="91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j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j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BD8268F-249F-4B4A-A44E-68FFC5BDD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244" y="3579959"/>
            <a:ext cx="2808312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8F837E-5BE8-7048-BA21-0DC8FCB1661E}"/>
              </a:ext>
            </a:extLst>
          </p:cNvPr>
          <p:cNvSpPr txBox="1"/>
          <p:nvPr/>
        </p:nvSpPr>
        <p:spPr>
          <a:xfrm>
            <a:off x="1912894" y="1246639"/>
            <a:ext cx="48610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Introduction, Context </a:t>
            </a:r>
            <a:br>
              <a:rPr lang="en-US" sz="4000" b="1" dirty="0">
                <a:solidFill>
                  <a:schemeClr val="tx2"/>
                </a:solidFill>
              </a:rPr>
            </a:br>
            <a:r>
              <a:rPr lang="en-US" sz="4000" b="1" dirty="0">
                <a:solidFill>
                  <a:schemeClr val="tx2"/>
                </a:solidFill>
              </a:rPr>
              <a:t>&amp; Current Initiatives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pPr algn="ctr"/>
            <a:r>
              <a:rPr lang="en-US" sz="2800" dirty="0">
                <a:solidFill>
                  <a:schemeClr val="tx2"/>
                </a:solidFill>
              </a:rPr>
              <a:t>Sally Russell</a:t>
            </a:r>
          </a:p>
        </p:txBody>
      </p:sp>
    </p:spTree>
    <p:extLst>
      <p:ext uri="{BB962C8B-B14F-4D97-AF65-F5344CB8AC3E}">
        <p14:creationId xmlns:p14="http://schemas.microsoft.com/office/powerpoint/2010/main" val="3888251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818E-96D0-854B-8088-C8DB95CF3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510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4617B"/>
                </a:solidFill>
              </a:rPr>
              <a:t>“I actually think it doesn’t matter what the name is, but I do think </a:t>
            </a:r>
            <a:r>
              <a:rPr lang="en-US" sz="2800" b="1" dirty="0">
                <a:solidFill>
                  <a:srgbClr val="04617B"/>
                </a:solidFill>
              </a:rPr>
              <a:t>IT should be named</a:t>
            </a:r>
            <a:r>
              <a:rPr lang="en-US" sz="2800" dirty="0">
                <a:solidFill>
                  <a:srgbClr val="04617B"/>
                </a:solidFill>
              </a:rPr>
              <a:t>. If you don’t label things no one is aware of them and you don’t get any intervention.”</a:t>
            </a:r>
            <a:endParaRPr lang="en-GB" sz="2800" dirty="0">
              <a:solidFill>
                <a:srgbClr val="04617B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4617B"/>
                </a:solidFill>
              </a:rPr>
              <a:t> </a:t>
            </a:r>
          </a:p>
          <a:p>
            <a:pPr marL="0" indent="0">
              <a:buNone/>
            </a:pPr>
            <a:endParaRPr lang="en-GB" sz="2800" dirty="0">
              <a:solidFill>
                <a:srgbClr val="04617B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4617B"/>
                </a:solidFill>
              </a:rPr>
              <a:t>“I understand why people debate the concept, but …it does exist and we know that those children don’t respond to normal classroom interventions and they need something else.”</a:t>
            </a:r>
          </a:p>
          <a:p>
            <a:pPr marL="0" indent="0" algn="r">
              <a:buNone/>
            </a:pPr>
            <a:r>
              <a:rPr lang="en-US" dirty="0">
                <a:solidFill>
                  <a:srgbClr val="04617B"/>
                </a:solidFill>
              </a:rPr>
              <a:t>Prof Maggie </a:t>
            </a:r>
            <a:r>
              <a:rPr lang="en-US" dirty="0" err="1">
                <a:solidFill>
                  <a:srgbClr val="04617B"/>
                </a:solidFill>
              </a:rPr>
              <a:t>Snowling</a:t>
            </a:r>
            <a:r>
              <a:rPr lang="en-US" dirty="0">
                <a:solidFill>
                  <a:srgbClr val="04617B"/>
                </a:solidFill>
              </a:rPr>
              <a:t> DBE</a:t>
            </a:r>
            <a:endParaRPr lang="en-GB" dirty="0">
              <a:solidFill>
                <a:srgbClr val="04617B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19368-798F-F449-906F-543962C6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46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BABE-EB6E-7145-8820-66CEB18BC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4617B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4617B"/>
                </a:solidFill>
              </a:rPr>
              <a:t>“I think a lot of people bothered about the name are actually bothered about the diagnosis, so it’s a different way of expressing that actually </a:t>
            </a:r>
            <a:r>
              <a:rPr lang="en-US" sz="3200" b="1" i="1" dirty="0">
                <a:solidFill>
                  <a:srgbClr val="04617B"/>
                </a:solidFill>
              </a:rPr>
              <a:t>dyslexia</a:t>
            </a:r>
            <a:r>
              <a:rPr lang="en-US" sz="3200" dirty="0">
                <a:solidFill>
                  <a:srgbClr val="04617B"/>
                </a:solidFill>
              </a:rPr>
              <a:t> doesn’t exist.”</a:t>
            </a:r>
          </a:p>
          <a:p>
            <a:endParaRPr lang="en-US" dirty="0"/>
          </a:p>
          <a:p>
            <a:pPr marL="0" indent="0" algn="r">
              <a:buNone/>
            </a:pPr>
            <a:r>
              <a:rPr lang="en-US" dirty="0">
                <a:solidFill>
                  <a:srgbClr val="04617B"/>
                </a:solidFill>
              </a:rPr>
              <a:t>‘Word of Mouth’ </a:t>
            </a:r>
            <a:br>
              <a:rPr lang="en-US" dirty="0">
                <a:solidFill>
                  <a:srgbClr val="04617B"/>
                </a:solidFill>
              </a:rPr>
            </a:br>
            <a:r>
              <a:rPr lang="en-US" dirty="0">
                <a:solidFill>
                  <a:srgbClr val="04617B"/>
                </a:solidFill>
              </a:rPr>
              <a:t>BBC Radio 4, 2019</a:t>
            </a:r>
            <a:endParaRPr lang="en-GB" dirty="0">
              <a:solidFill>
                <a:srgbClr val="04617B"/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A07BD-5927-F249-85F9-E8EC8462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5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7DA5-AF28-6E40-AF20-ECADC3E4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Barriers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E340D-ED06-1347-BA11-DD088365E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1772816"/>
            <a:ext cx="7643192" cy="39570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4617B"/>
                </a:solidFill>
              </a:rPr>
              <a:t>Nature of autism awareness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4617B"/>
                </a:solidFill>
              </a:rPr>
              <a:t>Basic training in neurodiversity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4617B"/>
                </a:solidFill>
              </a:rPr>
              <a:t>Pace and nature of research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4617B"/>
                </a:solidFill>
              </a:rPr>
              <a:t>Variability in practice development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4617B"/>
                </a:solidFill>
              </a:rPr>
              <a:t>Few ‘interventions’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2428E6-2F43-394F-B2B0-5CB4BBDE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121AC-D0EC-7746-99B2-E2E1C5DB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1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1251-2C90-2E49-96AA-5BB21DFB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Improving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6E2D6-7997-CF4A-962E-F8E7AD25B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1700808"/>
            <a:ext cx="7653536" cy="438912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Widening understanding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tx2"/>
                </a:solidFill>
              </a:rPr>
              <a:t>Government’s DHSC statement, Autism Strategy review, Mandatory training</a:t>
            </a:r>
          </a:p>
          <a:p>
            <a:r>
              <a:rPr lang="en-US" sz="3200" dirty="0">
                <a:solidFill>
                  <a:schemeClr val="tx2"/>
                </a:solidFill>
              </a:rPr>
              <a:t>University education and professional training</a:t>
            </a:r>
          </a:p>
          <a:p>
            <a:r>
              <a:rPr lang="en-US" sz="3200" dirty="0">
                <a:solidFill>
                  <a:schemeClr val="tx2"/>
                </a:solidFill>
              </a:rPr>
              <a:t>Develop evidence, involve professionals and autistic voice</a:t>
            </a:r>
          </a:p>
          <a:p>
            <a:r>
              <a:rPr lang="en-US" sz="3200" dirty="0">
                <a:solidFill>
                  <a:schemeClr val="tx2"/>
                </a:solidFill>
              </a:rPr>
              <a:t>Focus on what helps… on outcomes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tx2"/>
                </a:solidFill>
              </a:rPr>
              <a:t>‘Ask Listen Do’ Campaign</a:t>
            </a:r>
          </a:p>
          <a:p>
            <a:r>
              <a:rPr lang="en-US" sz="3200" dirty="0">
                <a:solidFill>
                  <a:schemeClr val="tx2"/>
                </a:solidFill>
              </a:rPr>
              <a:t>Leadership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8376E-78DA-B646-9058-629AB569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PDA Society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80B31-50F6-AF48-B230-CE89D8FD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6987-ABF6-4F2A-9079-4E2EF053C42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03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8644A-A1FE-1249-8D08-1657A814F9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82000" y="6356350"/>
            <a:ext cx="762000" cy="365125"/>
          </a:xfrm>
        </p:spPr>
        <p:txBody>
          <a:bodyPr/>
          <a:lstStyle/>
          <a:p>
            <a:fld id="{9E8F6987-ABF6-4F2A-9079-4E2EF053C424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B8579-7400-6F43-B3A2-D37936D6E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30419"/>
            <a:ext cx="6108493" cy="610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25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22236</TotalTime>
  <Words>156</Words>
  <Application>Microsoft Office PowerPoint</Application>
  <PresentationFormat>On-screen Show (4:3)</PresentationFormat>
  <Paragraphs>35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Courier New</vt:lpstr>
      <vt:lpstr>Wingdings 2</vt:lpstr>
      <vt:lpstr>Flow</vt:lpstr>
      <vt:lpstr>PowerPoint Presentation</vt:lpstr>
      <vt:lpstr>PowerPoint Presentation</vt:lpstr>
      <vt:lpstr>PowerPoint Presentation</vt:lpstr>
      <vt:lpstr>Barriers</vt:lpstr>
      <vt:lpstr>Improving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PDA (pathological demand avoidance)</dc:title>
  <dc:creator>Mark Knowles</dc:creator>
  <cp:lastModifiedBy>Janet Matthews</cp:lastModifiedBy>
  <cp:revision>638</cp:revision>
  <cp:lastPrinted>2018-09-23T09:46:16Z</cp:lastPrinted>
  <dcterms:created xsi:type="dcterms:W3CDTF">2007-11-23T09:24:47Z</dcterms:created>
  <dcterms:modified xsi:type="dcterms:W3CDTF">2019-11-15T12:06:08Z</dcterms:modified>
</cp:coreProperties>
</file>